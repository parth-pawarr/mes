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2" r:id="rId9"/>
    <p:sldId id="263" r:id="rId10"/>
    <p:sldId id="264" r:id="rId11"/>
    <p:sldId id="272" r:id="rId12"/>
    <p:sldId id="266" r:id="rId13"/>
    <p:sldId id="267" r:id="rId14"/>
    <p:sldId id="268" r:id="rId15"/>
    <p:sldId id="269" r:id="rId16"/>
    <p:sldId id="271" r:id="rId17"/>
    <p:sldId id="273" r:id="rId18"/>
    <p:sldId id="27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55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8051 TIMERS AND COUNTERS </a:t>
            </a:r>
            <a:r>
              <a:rPr lang="en-IN" dirty="0"/>
              <a:t/>
            </a:r>
            <a:br>
              <a:rPr lang="en-IN" dirty="0"/>
            </a:br>
            <a:r>
              <a:rPr lang="en-US" dirty="0"/>
              <a:t/>
            </a:r>
            <a:br>
              <a:rPr lang="en-US" dirty="0"/>
            </a:b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9491867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Introduction</a:t>
            </a:r>
            <a:endParaRPr lang="en-IN" dirty="0"/>
          </a:p>
        </p:txBody>
      </p:sp>
      <p:sp>
        <p:nvSpPr>
          <p:cNvPr id="3" name="Content Placeholder 2"/>
          <p:cNvSpPr>
            <a:spLocks noGrp="1"/>
          </p:cNvSpPr>
          <p:nvPr>
            <p:ph idx="1"/>
          </p:nvPr>
        </p:nvSpPr>
        <p:spPr/>
        <p:txBody>
          <a:bodyPr>
            <a:normAutofit fontScale="70000" lnSpcReduction="20000"/>
          </a:bodyPr>
          <a:lstStyle/>
          <a:p>
            <a:r>
              <a:rPr lang="en-US" b="1" dirty="0"/>
              <a:t>The 8051 CPU has a cycle time of 12 clock cycles per byte fetch. The 8051's clock source is an external crystal oscillator. </a:t>
            </a:r>
            <a:endParaRPr lang="en-IN" dirty="0"/>
          </a:p>
          <a:p>
            <a:r>
              <a:rPr lang="en-US" dirty="0"/>
              <a:t>The 8051 provides two 16-bit timers/counters: </a:t>
            </a:r>
            <a:endParaRPr lang="en-US" dirty="0" smtClean="0"/>
          </a:p>
          <a:p>
            <a:r>
              <a:rPr lang="en-US" dirty="0" smtClean="0"/>
              <a:t>Timer </a:t>
            </a:r>
            <a:r>
              <a:rPr lang="en-US" dirty="0"/>
              <a:t>0 and Timer 1. These versatile timers can be configured to operate in four distinct modes, each serving specific timing requirements.</a:t>
            </a:r>
            <a:endParaRPr lang="en-IN" dirty="0"/>
          </a:p>
          <a:p>
            <a:r>
              <a:rPr lang="en-US" dirty="0"/>
              <a:t>The 8051 has two timers/counters, Timer 0 and Timer 1. They can be used as either timers to generate a time delay or as counters to count events happening outside the microcontroller. </a:t>
            </a:r>
            <a:endParaRPr lang="en-US" dirty="0" smtClean="0"/>
          </a:p>
          <a:p>
            <a:r>
              <a:rPr lang="en-US" dirty="0" smtClean="0"/>
              <a:t>Both </a:t>
            </a:r>
            <a:r>
              <a:rPr lang="en-US" dirty="0"/>
              <a:t>Timer 0 and Timer 1 are 16 bits wide. They are accessed as two separate registers of low byte and high byte. </a:t>
            </a:r>
            <a:endParaRPr lang="en-IN" dirty="0"/>
          </a:p>
          <a:p>
            <a:endParaRPr lang="en-IN" dirty="0"/>
          </a:p>
        </p:txBody>
      </p:sp>
    </p:spTree>
    <p:extLst>
      <p:ext uri="{BB962C8B-B14F-4D97-AF65-F5344CB8AC3E}">
        <p14:creationId xmlns:p14="http://schemas.microsoft.com/office/powerpoint/2010/main" val="24718020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a:bodyPr>
          <a:lstStyle/>
          <a:p>
            <a:r>
              <a:rPr lang="en-US" sz="2000" b="1" dirty="0"/>
              <a:t>Timer 0 (T0) Register: </a:t>
            </a:r>
            <a:endParaRPr lang="en-IN" sz="2000" dirty="0"/>
          </a:p>
          <a:p>
            <a:r>
              <a:rPr lang="en-US" sz="2000" dirty="0"/>
              <a:t>Low byte register of T0 is called TL0 and high byte is called as TH0. </a:t>
            </a:r>
            <a:endParaRPr lang="en-US" sz="2000" dirty="0" smtClean="0"/>
          </a:p>
          <a:p>
            <a:r>
              <a:rPr lang="en-US" sz="2000" dirty="0" smtClean="0"/>
              <a:t>These </a:t>
            </a:r>
            <a:r>
              <a:rPr lang="en-US" sz="2000" dirty="0"/>
              <a:t>registers can be accessed like any other register. </a:t>
            </a:r>
            <a:endParaRPr lang="en-US" sz="2000" dirty="0" smtClean="0"/>
          </a:p>
          <a:p>
            <a:r>
              <a:rPr lang="en-US" sz="2000" dirty="0" smtClean="0"/>
              <a:t>For </a:t>
            </a:r>
            <a:r>
              <a:rPr lang="en-US" sz="2000" dirty="0"/>
              <a:t>example, MOV TL0, #3EH, will transfer data 3EH to TL0, </a:t>
            </a:r>
            <a:r>
              <a:rPr lang="en-US" sz="2000" dirty="0" smtClean="0"/>
              <a:t>and</a:t>
            </a:r>
          </a:p>
          <a:p>
            <a:r>
              <a:rPr lang="en-US" sz="2000" dirty="0" smtClean="0"/>
              <a:t> </a:t>
            </a:r>
            <a:r>
              <a:rPr lang="en-US" sz="2000" dirty="0"/>
              <a:t>MOV A, TH0 will transfer content of TH0 to accumulator. </a:t>
            </a:r>
            <a:endParaRPr lang="en-IN" sz="2000" dirty="0"/>
          </a:p>
          <a:p>
            <a:r>
              <a:rPr lang="en-US" sz="2000" b="1" dirty="0"/>
              <a:t>Timer 1 (T1) Register: </a:t>
            </a:r>
            <a:endParaRPr lang="en-IN" sz="2000" dirty="0"/>
          </a:p>
          <a:p>
            <a:r>
              <a:rPr lang="en-US" sz="2000" dirty="0"/>
              <a:t>Low byte register of T1 is called TL1 and high byte is called as TH1. These registers are accessible in the same way as registers of Timer 0</a:t>
            </a:r>
            <a:r>
              <a:rPr lang="en-US" sz="2000" dirty="0" smtClean="0"/>
              <a:t>.</a:t>
            </a:r>
          </a:p>
          <a:p>
            <a:endParaRPr lang="en-IN" dirty="0"/>
          </a:p>
        </p:txBody>
      </p:sp>
      <p:pic>
        <p:nvPicPr>
          <p:cNvPr id="1026" name="Picture 2" descr="C:\Users\hp\Desktop\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02" y="3429000"/>
            <a:ext cx="7942263"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27876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a:bodyPr>
          <a:lstStyle/>
          <a:p>
            <a:r>
              <a:rPr lang="en-US" sz="3600" dirty="0"/>
              <a:t>T</a:t>
            </a:r>
            <a:r>
              <a:rPr lang="en-US" sz="3600" dirty="0" smtClean="0"/>
              <a:t>imer </a:t>
            </a:r>
            <a:r>
              <a:rPr lang="en-US" sz="3600" dirty="0"/>
              <a:t>related SFRs in 8051</a:t>
            </a:r>
            <a:endParaRPr lang="en-IN" sz="3600" dirty="0"/>
          </a:p>
        </p:txBody>
      </p:sp>
      <p:sp>
        <p:nvSpPr>
          <p:cNvPr id="4" name="Rectangle 3"/>
          <p:cNvSpPr/>
          <p:nvPr/>
        </p:nvSpPr>
        <p:spPr>
          <a:xfrm>
            <a:off x="2286000" y="1443841"/>
            <a:ext cx="4572000" cy="3970318"/>
          </a:xfrm>
          <a:prstGeom prst="rect">
            <a:avLst/>
          </a:prstGeom>
        </p:spPr>
        <p:txBody>
          <a:bodyPr>
            <a:spAutoFit/>
          </a:bodyPr>
          <a:lstStyle/>
          <a:p>
            <a:endParaRPr lang="en-US" b="1" dirty="0" smtClean="0"/>
          </a:p>
          <a:p>
            <a:r>
              <a:rPr lang="en-US" b="1" dirty="0" smtClean="0"/>
              <a:t>SFR </a:t>
            </a:r>
            <a:r>
              <a:rPr lang="en-US" b="1" dirty="0"/>
              <a:t>Address </a:t>
            </a:r>
            <a:endParaRPr lang="en-IN" dirty="0"/>
          </a:p>
          <a:p>
            <a:r>
              <a:rPr lang="en-US" i="1" dirty="0"/>
              <a:t>TH0                          Timer0 High Byte                    8Ch </a:t>
            </a:r>
            <a:endParaRPr lang="en-IN" dirty="0"/>
          </a:p>
          <a:p>
            <a:r>
              <a:rPr lang="en-US" i="1" dirty="0"/>
              <a:t>TL0                          Timer0 Low Byte                     8Ah </a:t>
            </a:r>
            <a:endParaRPr lang="en-IN" dirty="0"/>
          </a:p>
          <a:p>
            <a:r>
              <a:rPr lang="en-US" i="1" dirty="0"/>
              <a:t>TH1                          Timer1 High Byte                    8Dh </a:t>
            </a:r>
            <a:endParaRPr lang="en-IN" dirty="0"/>
          </a:p>
          <a:p>
            <a:r>
              <a:rPr lang="en-US" i="1" dirty="0"/>
              <a:t>TL1                           Timer1 Low Byte                     8Bh </a:t>
            </a:r>
            <a:endParaRPr lang="en-IN" dirty="0"/>
          </a:p>
          <a:p>
            <a:r>
              <a:rPr lang="en-US" i="1" dirty="0"/>
              <a:t>TCON                       Timer Control                          88h </a:t>
            </a:r>
            <a:endParaRPr lang="en-IN" dirty="0"/>
          </a:p>
          <a:p>
            <a:r>
              <a:rPr lang="en-US" i="1" dirty="0"/>
              <a:t>TMOD                     Timer Mode                              89h </a:t>
            </a:r>
            <a:endParaRPr lang="en-IN" dirty="0"/>
          </a:p>
        </p:txBody>
      </p:sp>
    </p:spTree>
    <p:extLst>
      <p:ext uri="{BB962C8B-B14F-4D97-AF65-F5344CB8AC3E}">
        <p14:creationId xmlns:p14="http://schemas.microsoft.com/office/powerpoint/2010/main" val="896323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US" b="1" dirty="0"/>
              <a:t>C/T (clock/timer): </a:t>
            </a:r>
            <a:endParaRPr lang="en-IN" dirty="0"/>
          </a:p>
          <a:p>
            <a:r>
              <a:rPr lang="en-US" dirty="0"/>
              <a:t>This bit is used to select timer hardware as a timer or counter. If this bit is set to 0, timer hardware act as a timer to generate time delay by counting internal clock pulse generated by the crystal oscillator. If the bit is set to 1, the hardware acts as a counter to count external clock pulse which represents an event. </a:t>
            </a:r>
            <a:endParaRPr lang="en-IN" dirty="0"/>
          </a:p>
          <a:p>
            <a:r>
              <a:rPr lang="en-US" dirty="0"/>
              <a:t>Timer in 8051 is used as timer, counter and baud rate generator. Timer always counts up irrespective of whether it is used as timer, counter, or baud rate generator: Timer is always incremented by the microcontroller. The time taken to count one digit up is based on master clock frequency.  </a:t>
            </a:r>
            <a:endParaRPr lang="en-IN" dirty="0"/>
          </a:p>
          <a:p>
            <a:r>
              <a:rPr lang="en-US" dirty="0"/>
              <a:t>If Master CLK=11.0592 MHz, </a:t>
            </a:r>
            <a:endParaRPr lang="en-IN" dirty="0"/>
          </a:p>
          <a:p>
            <a:r>
              <a:rPr lang="en-US" dirty="0"/>
              <a:t>Timer Clock frequency = Master CLK/12 = 921.6 kHz </a:t>
            </a:r>
            <a:endParaRPr lang="en-IN" dirty="0"/>
          </a:p>
          <a:p>
            <a:r>
              <a:rPr lang="en-US" dirty="0"/>
              <a:t>Timer Clock Period = 1.085 micro second </a:t>
            </a:r>
            <a:endParaRPr lang="en-IN" dirty="0"/>
          </a:p>
          <a:p>
            <a:r>
              <a:rPr lang="en-US" dirty="0"/>
              <a:t>This indicates that one increment in count will take 1.085 micro second</a:t>
            </a:r>
            <a:r>
              <a:rPr lang="en-US" dirty="0" smtClean="0"/>
              <a:t>.</a:t>
            </a:r>
            <a:r>
              <a:rPr lang="en-US" dirty="0"/>
              <a:t> </a:t>
            </a:r>
            <a:endParaRPr lang="en-IN" dirty="0"/>
          </a:p>
          <a:p>
            <a:r>
              <a:rPr lang="en-US" dirty="0"/>
              <a:t>The two timers in 8051 share two SFRs (TMOD and TCON) which control the timers, and each timer also has  two SFRs dedicated solely to itself (TH0/TL0 and TH1/TL1)</a:t>
            </a:r>
            <a:endParaRPr lang="en-IN" dirty="0"/>
          </a:p>
          <a:p>
            <a:endParaRPr lang="en-IN" dirty="0"/>
          </a:p>
        </p:txBody>
      </p:sp>
    </p:spTree>
    <p:extLst>
      <p:ext uri="{BB962C8B-B14F-4D97-AF65-F5344CB8AC3E}">
        <p14:creationId xmlns:p14="http://schemas.microsoft.com/office/powerpoint/2010/main" val="26842466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CPU Timing in 8051 Microcontroller</a:t>
            </a:r>
          </a:p>
        </p:txBody>
      </p:sp>
      <p:sp>
        <p:nvSpPr>
          <p:cNvPr id="3" name="Content Placeholder 2"/>
          <p:cNvSpPr>
            <a:spLocks noGrp="1"/>
          </p:cNvSpPr>
          <p:nvPr>
            <p:ph idx="1"/>
          </p:nvPr>
        </p:nvSpPr>
        <p:spPr/>
        <p:txBody>
          <a:bodyPr>
            <a:normAutofit fontScale="62500" lnSpcReduction="20000"/>
          </a:bodyPr>
          <a:lstStyle/>
          <a:p>
            <a:r>
              <a:rPr lang="en-US" dirty="0" smtClean="0"/>
              <a:t>CPU </a:t>
            </a:r>
            <a:r>
              <a:rPr lang="en-US" dirty="0"/>
              <a:t>timing in the 8051 microcontroller refers to the way the processor executes instructions based on clock cycles. The timing is crucial in determining how fast instructions are executed and how peripherals interact with the CPU</a:t>
            </a:r>
            <a:r>
              <a:rPr lang="en-US" dirty="0" smtClean="0"/>
              <a:t>.</a:t>
            </a:r>
          </a:p>
          <a:p>
            <a:r>
              <a:rPr lang="en-IN" dirty="0"/>
              <a:t>he </a:t>
            </a:r>
            <a:r>
              <a:rPr lang="en-IN" b="1" dirty="0"/>
              <a:t>8051 microcontroller</a:t>
            </a:r>
            <a:r>
              <a:rPr lang="en-IN" dirty="0"/>
              <a:t> is driven by an external clock signal, typically </a:t>
            </a:r>
            <a:r>
              <a:rPr lang="en-IN" b="1" dirty="0"/>
              <a:t>12 </a:t>
            </a:r>
            <a:r>
              <a:rPr lang="en-IN" b="1" dirty="0" err="1"/>
              <a:t>MHz</a:t>
            </a:r>
            <a:r>
              <a:rPr lang="en-IN" dirty="0" err="1"/>
              <a:t>.</a:t>
            </a:r>
            <a:endParaRPr lang="en-IN" dirty="0"/>
          </a:p>
          <a:p>
            <a:r>
              <a:rPr lang="en-IN" dirty="0"/>
              <a:t>The </a:t>
            </a:r>
            <a:r>
              <a:rPr lang="en-IN" b="1" dirty="0"/>
              <a:t>8051 CPU</a:t>
            </a:r>
            <a:r>
              <a:rPr lang="en-IN" dirty="0"/>
              <a:t> uses this clock to execute instructions.</a:t>
            </a:r>
          </a:p>
          <a:p>
            <a:r>
              <a:rPr lang="en-IN" dirty="0"/>
              <a:t>One </a:t>
            </a:r>
            <a:r>
              <a:rPr lang="en-IN" b="1" dirty="0"/>
              <a:t>machine cycle</a:t>
            </a:r>
            <a:r>
              <a:rPr lang="en-IN" dirty="0"/>
              <a:t> consists of </a:t>
            </a:r>
            <a:r>
              <a:rPr lang="en-IN" b="1" dirty="0"/>
              <a:t>12 clock pulses (cycles)</a:t>
            </a:r>
            <a:r>
              <a:rPr lang="en-IN" dirty="0"/>
              <a:t>.</a:t>
            </a:r>
          </a:p>
          <a:p>
            <a:r>
              <a:rPr lang="en-IN" dirty="0"/>
              <a:t>The machine cycle is the basic unit of time for executing instructions.</a:t>
            </a:r>
          </a:p>
          <a:p>
            <a:r>
              <a:rPr lang="en-IN" b="1" dirty="0"/>
              <a:t>Machine Cycle Formula:</a:t>
            </a:r>
          </a:p>
          <a:p>
            <a:r>
              <a:rPr lang="en-IN" dirty="0"/>
              <a:t>Machine Cycle Time=Clock Period12\text{Machine Cycle Time} = \</a:t>
            </a:r>
            <a:r>
              <a:rPr lang="en-IN" dirty="0" err="1"/>
              <a:t>frac</a:t>
            </a:r>
            <a:r>
              <a:rPr lang="en-IN" dirty="0"/>
              <a:t>{\text{Clock Period}}{12}Machine Cycle Time=12Clock Period​ For example, with a </a:t>
            </a:r>
            <a:r>
              <a:rPr lang="en-IN" b="1" dirty="0"/>
              <a:t>12 MHz clock</a:t>
            </a:r>
            <a:r>
              <a:rPr lang="en-IN" dirty="0"/>
              <a:t>:</a:t>
            </a:r>
          </a:p>
          <a:p>
            <a:r>
              <a:rPr lang="en-IN" dirty="0"/>
              <a:t>Machine Cycle Time=112 MHz=1 µs\text{Machine Cycle Time} = \</a:t>
            </a:r>
            <a:r>
              <a:rPr lang="en-IN" dirty="0" err="1"/>
              <a:t>frac</a:t>
            </a:r>
            <a:r>
              <a:rPr lang="en-IN" dirty="0"/>
              <a:t>{1}{12 \text{ MHz}} = 1 \text{ µs}Machine Cycle Time=12 MHz1​=1 µs</a:t>
            </a:r>
          </a:p>
        </p:txBody>
      </p:sp>
    </p:spTree>
    <p:extLst>
      <p:ext uri="{BB962C8B-B14F-4D97-AF65-F5344CB8AC3E}">
        <p14:creationId xmlns:p14="http://schemas.microsoft.com/office/powerpoint/2010/main" val="8730103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90373" y="1600200"/>
            <a:ext cx="7563253"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54494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Each </a:t>
            </a:r>
            <a:r>
              <a:rPr lang="en-US" dirty="0"/>
              <a:t>instruction in 8051 takes a specific number of machine cycles. Instructions can be classified </a:t>
            </a:r>
            <a:r>
              <a:rPr lang="en-US" dirty="0" smtClean="0"/>
              <a:t>as follows</a:t>
            </a:r>
          </a:p>
          <a:p>
            <a:endParaRPr lang="en-IN" dirty="0"/>
          </a:p>
        </p:txBody>
      </p:sp>
      <p:graphicFrame>
        <p:nvGraphicFramePr>
          <p:cNvPr id="16" name="Table 15"/>
          <p:cNvGraphicFramePr>
            <a:graphicFrameLocks noGrp="1"/>
          </p:cNvGraphicFramePr>
          <p:nvPr>
            <p:extLst>
              <p:ext uri="{D42A27DB-BD31-4B8C-83A1-F6EECF244321}">
                <p14:modId xmlns:p14="http://schemas.microsoft.com/office/powerpoint/2010/main" val="4022624778"/>
              </p:ext>
            </p:extLst>
          </p:nvPr>
        </p:nvGraphicFramePr>
        <p:xfrm>
          <a:off x="914400" y="3124200"/>
          <a:ext cx="7467600" cy="2402840"/>
        </p:xfrm>
        <a:graphic>
          <a:graphicData uri="http://schemas.openxmlformats.org/drawingml/2006/table">
            <a:tbl>
              <a:tblPr firstRow="1" bandRow="1">
                <a:tableStyleId>{5C22544A-7EE6-4342-B048-85BDC9FD1C3A}</a:tableStyleId>
              </a:tblPr>
              <a:tblGrid>
                <a:gridCol w="18669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gridCol w="1866900">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tblGrid>
              <a:tr h="760698">
                <a:tc>
                  <a:txBody>
                    <a:bodyPr/>
                    <a:lstStyle/>
                    <a:p>
                      <a:r>
                        <a:rPr lang="en-IN" b="1" dirty="0" smtClean="0"/>
                        <a:t>Instruction </a:t>
                      </a:r>
                      <a:r>
                        <a:rPr lang="en-IN" b="1" dirty="0"/>
                        <a:t>Type</a:t>
                      </a:r>
                      <a:endParaRPr lang="en-IN" dirty="0"/>
                    </a:p>
                  </a:txBody>
                  <a:tcPr anchor="ctr"/>
                </a:tc>
                <a:tc>
                  <a:txBody>
                    <a:bodyPr/>
                    <a:lstStyle/>
                    <a:p>
                      <a:r>
                        <a:rPr lang="en-IN" b="1"/>
                        <a:t>Example</a:t>
                      </a:r>
                      <a:endParaRPr lang="en-IN"/>
                    </a:p>
                  </a:txBody>
                  <a:tcPr anchor="ctr"/>
                </a:tc>
                <a:tc>
                  <a:txBody>
                    <a:bodyPr/>
                    <a:lstStyle/>
                    <a:p>
                      <a:r>
                        <a:rPr lang="en-IN" b="1"/>
                        <a:t>Machine Cycles</a:t>
                      </a:r>
                      <a:endParaRPr lang="en-IN"/>
                    </a:p>
                  </a:txBody>
                  <a:tcPr anchor="ctr"/>
                </a:tc>
                <a:tc>
                  <a:txBody>
                    <a:bodyPr/>
                    <a:lstStyle/>
                    <a:p>
                      <a:r>
                        <a:rPr lang="en-IN" b="1" dirty="0"/>
                        <a:t>Time at 12MHz (µs)</a:t>
                      </a:r>
                      <a:endParaRPr lang="en-IN" dirty="0"/>
                    </a:p>
                  </a:txBody>
                  <a:tcPr anchor="ctr"/>
                </a:tc>
                <a:extLst>
                  <a:ext uri="{0D108BD9-81ED-4DB2-BD59-A6C34878D82A}">
                    <a16:rowId xmlns:a16="http://schemas.microsoft.com/office/drawing/2014/main" val="10000"/>
                  </a:ext>
                </a:extLst>
              </a:tr>
              <a:tr h="760698">
                <a:tc>
                  <a:txBody>
                    <a:bodyPr/>
                    <a:lstStyle/>
                    <a:p>
                      <a:r>
                        <a:rPr lang="en-IN" dirty="0"/>
                        <a:t>1-byte (Fastest)</a:t>
                      </a:r>
                    </a:p>
                  </a:txBody>
                  <a:tcPr anchor="ctr"/>
                </a:tc>
                <a:tc>
                  <a:txBody>
                    <a:bodyPr/>
                    <a:lstStyle/>
                    <a:p>
                      <a:r>
                        <a:rPr lang="en-IN"/>
                        <a:t>NOP</a:t>
                      </a:r>
                    </a:p>
                  </a:txBody>
                  <a:tcPr anchor="ctr"/>
                </a:tc>
                <a:tc>
                  <a:txBody>
                    <a:bodyPr/>
                    <a:lstStyle/>
                    <a:p>
                      <a:r>
                        <a:rPr lang="en-IN"/>
                        <a:t>1</a:t>
                      </a:r>
                    </a:p>
                  </a:txBody>
                  <a:tcPr anchor="ctr"/>
                </a:tc>
                <a:tc>
                  <a:txBody>
                    <a:bodyPr/>
                    <a:lstStyle/>
                    <a:p>
                      <a:r>
                        <a:rPr lang="en-IN" dirty="0"/>
                        <a:t>1 µs</a:t>
                      </a:r>
                    </a:p>
                  </a:txBody>
                  <a:tcPr anchor="ctr"/>
                </a:tc>
                <a:extLst>
                  <a:ext uri="{0D108BD9-81ED-4DB2-BD59-A6C34878D82A}">
                    <a16:rowId xmlns:a16="http://schemas.microsoft.com/office/drawing/2014/main" val="10001"/>
                  </a:ext>
                </a:extLst>
              </a:tr>
              <a:tr h="440722">
                <a:tc>
                  <a:txBody>
                    <a:bodyPr/>
                    <a:lstStyle/>
                    <a:p>
                      <a:r>
                        <a:rPr lang="en-IN" dirty="0"/>
                        <a:t>2-byte (Medium)</a:t>
                      </a:r>
                    </a:p>
                  </a:txBody>
                  <a:tcPr anchor="ctr"/>
                </a:tc>
                <a:tc>
                  <a:txBody>
                    <a:bodyPr/>
                    <a:lstStyle/>
                    <a:p>
                      <a:r>
                        <a:rPr lang="en-IN" dirty="0"/>
                        <a:t>MOV A, #05H</a:t>
                      </a:r>
                    </a:p>
                  </a:txBody>
                  <a:tcPr anchor="ctr"/>
                </a:tc>
                <a:tc>
                  <a:txBody>
                    <a:bodyPr/>
                    <a:lstStyle/>
                    <a:p>
                      <a:pPr marL="0" algn="l" defTabSz="914400" rtl="0" eaLnBrk="1" latinLnBrk="0" hangingPunct="1"/>
                      <a:r>
                        <a:rPr lang="en-US" sz="1800" kern="1200" dirty="0" smtClean="0">
                          <a:solidFill>
                            <a:schemeClr val="dk1"/>
                          </a:solidFill>
                          <a:latin typeface="+mn-lt"/>
                          <a:ea typeface="+mn-ea"/>
                          <a:cs typeface="+mn-cs"/>
                        </a:rPr>
                        <a:t>1</a:t>
                      </a:r>
                      <a:endParaRPr lang="en-IN" sz="18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1 µs</a:t>
                      </a:r>
                    </a:p>
                  </a:txBody>
                  <a:tcPr/>
                </a:tc>
                <a:extLst>
                  <a:ext uri="{0D108BD9-81ED-4DB2-BD59-A6C34878D82A}">
                    <a16:rowId xmlns:a16="http://schemas.microsoft.com/office/drawing/2014/main" val="10002"/>
                  </a:ext>
                </a:extLst>
              </a:tr>
              <a:tr h="440722">
                <a:tc>
                  <a:txBody>
                    <a:bodyPr/>
                    <a:lstStyle/>
                    <a:p>
                      <a:r>
                        <a:rPr lang="en-IN" dirty="0"/>
                        <a:t>3-byte (Slowest)</a:t>
                      </a:r>
                    </a:p>
                  </a:txBody>
                  <a:tcPr anchor="ctr"/>
                </a:tc>
                <a:tc>
                  <a:txBody>
                    <a:bodyPr/>
                    <a:lstStyle/>
                    <a:p>
                      <a:pPr marL="0" algn="l" defTabSz="914400" rtl="0" eaLnBrk="1" latinLnBrk="0" hangingPunct="1"/>
                      <a:r>
                        <a:rPr lang="en-IN" dirty="0" smtClean="0"/>
                        <a:t>LJMP 2000H</a:t>
                      </a:r>
                      <a:endParaRPr lang="en-IN" sz="1800" kern="1200" dirty="0">
                        <a:solidFill>
                          <a:schemeClr val="dk1"/>
                        </a:solidFill>
                        <a:latin typeface="+mn-lt"/>
                        <a:ea typeface="+mn-ea"/>
                        <a:cs typeface="+mn-cs"/>
                      </a:endParaRPr>
                    </a:p>
                  </a:txBody>
                  <a:tcPr/>
                </a:tc>
                <a:tc>
                  <a:txBody>
                    <a:bodyPr/>
                    <a:lstStyle/>
                    <a:p>
                      <a:pPr marL="0" algn="l" defTabSz="914400" rtl="0" eaLnBrk="1" latinLnBrk="0" hangingPunct="1"/>
                      <a:r>
                        <a:rPr lang="en-US" sz="1800" kern="1200" dirty="0" smtClean="0">
                          <a:solidFill>
                            <a:schemeClr val="dk1"/>
                          </a:solidFill>
                          <a:latin typeface="+mn-lt"/>
                          <a:ea typeface="+mn-ea"/>
                          <a:cs typeface="+mn-cs"/>
                        </a:rPr>
                        <a:t>2</a:t>
                      </a:r>
                      <a:endParaRPr lang="en-IN" sz="1800" kern="1200" dirty="0">
                        <a:solidFill>
                          <a:schemeClr val="dk1"/>
                        </a:solidFill>
                        <a:latin typeface="+mn-lt"/>
                        <a:ea typeface="+mn-ea"/>
                        <a:cs typeface="+mn-cs"/>
                      </a:endParaRPr>
                    </a:p>
                  </a:txBody>
                  <a:tcPr/>
                </a:tc>
                <a:tc>
                  <a:txBody>
                    <a:bodyPr/>
                    <a:lstStyle/>
                    <a:p>
                      <a:pPr marL="0" algn="l" defTabSz="914400" rtl="0" eaLnBrk="1" latinLnBrk="0" hangingPunct="1"/>
                      <a:r>
                        <a:rPr lang="en-US" sz="1800" kern="1200" dirty="0" smtClean="0">
                          <a:solidFill>
                            <a:schemeClr val="dk1"/>
                          </a:solidFill>
                          <a:latin typeface="+mn-lt"/>
                          <a:ea typeface="+mn-ea"/>
                          <a:cs typeface="+mn-cs"/>
                        </a:rPr>
                        <a:t>2 us</a:t>
                      </a:r>
                      <a:endParaRPr lang="en-IN" sz="18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011567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Arial" charset="0"/>
                <a:cs typeface="Arial" charset="0"/>
              </a:rPr>
              <a:t>TCON Register Format </a:t>
            </a:r>
            <a:r>
              <a:rPr lang="en-US" b="1" dirty="0" smtClean="0">
                <a:latin typeface="Arial" charset="0"/>
                <a:cs typeface="Arial" charset="0"/>
              </a:rPr>
              <a:t/>
            </a:r>
            <a:br>
              <a:rPr lang="en-US" b="1" dirty="0" smtClean="0">
                <a:latin typeface="Arial" charset="0"/>
                <a:cs typeface="Arial" charset="0"/>
              </a:rPr>
            </a:br>
            <a:r>
              <a:rPr lang="en-US" b="1" dirty="0" smtClean="0">
                <a:latin typeface="Arial" charset="0"/>
                <a:cs typeface="Arial" charset="0"/>
              </a:rPr>
              <a:t>(</a:t>
            </a:r>
            <a:r>
              <a:rPr lang="en-US" b="1" dirty="0">
                <a:latin typeface="Arial" charset="0"/>
                <a:cs typeface="Arial" charset="0"/>
              </a:rPr>
              <a:t>Bit </a:t>
            </a:r>
            <a:r>
              <a:rPr lang="en-US" b="1" dirty="0" smtClean="0">
                <a:latin typeface="Arial" charset="0"/>
                <a:cs typeface="Arial" charset="0"/>
              </a:rPr>
              <a:t>Structure)</a:t>
            </a:r>
            <a:endParaRPr lang="en-IN" dirty="0"/>
          </a:p>
        </p:txBody>
      </p:sp>
      <p:graphicFrame>
        <p:nvGraphicFramePr>
          <p:cNvPr id="4" name="Content Placeholder 3"/>
          <p:cNvGraphicFramePr>
            <a:graphicFrameLocks noGrp="1"/>
          </p:cNvGraphicFramePr>
          <p:nvPr>
            <p:ph idx="1"/>
          </p:nvPr>
        </p:nvGraphicFramePr>
        <p:xfrm>
          <a:off x="800364" y="1600200"/>
          <a:ext cx="7543272" cy="4525962"/>
        </p:xfrm>
        <a:graphic>
          <a:graphicData uri="http://schemas.openxmlformats.org/drawingml/2006/table">
            <a:tbl>
              <a:tblPr/>
              <a:tblGrid>
                <a:gridCol w="1885818">
                  <a:extLst>
                    <a:ext uri="{9D8B030D-6E8A-4147-A177-3AD203B41FA5}">
                      <a16:colId xmlns:a16="http://schemas.microsoft.com/office/drawing/2014/main" val="20000"/>
                    </a:ext>
                  </a:extLst>
                </a:gridCol>
                <a:gridCol w="1885818">
                  <a:extLst>
                    <a:ext uri="{9D8B030D-6E8A-4147-A177-3AD203B41FA5}">
                      <a16:colId xmlns:a16="http://schemas.microsoft.com/office/drawing/2014/main" val="20001"/>
                    </a:ext>
                  </a:extLst>
                </a:gridCol>
                <a:gridCol w="1885818">
                  <a:extLst>
                    <a:ext uri="{9D8B030D-6E8A-4147-A177-3AD203B41FA5}">
                      <a16:colId xmlns:a16="http://schemas.microsoft.com/office/drawing/2014/main" val="20002"/>
                    </a:ext>
                  </a:extLst>
                </a:gridCol>
                <a:gridCol w="1885818">
                  <a:extLst>
                    <a:ext uri="{9D8B030D-6E8A-4147-A177-3AD203B41FA5}">
                      <a16:colId xmlns:a16="http://schemas.microsoft.com/office/drawing/2014/main" val="20003"/>
                    </a:ext>
                  </a:extLst>
                </a:gridCol>
              </a:tblGrid>
              <a:tr h="335256">
                <a:tc>
                  <a:txBody>
                    <a:bodyPr/>
                    <a:lstStyle/>
                    <a:p>
                      <a:r>
                        <a:rPr lang="en-IN" sz="1600" b="1"/>
                        <a:t>Bit</a:t>
                      </a:r>
                      <a:endParaRPr lang="en-IN" sz="1600"/>
                    </a:p>
                  </a:txBody>
                  <a:tcPr marL="83814" marR="83814" marT="41907" marB="41907" anchor="ctr">
                    <a:lnL>
                      <a:noFill/>
                    </a:lnL>
                    <a:lnR>
                      <a:noFill/>
                    </a:lnR>
                    <a:lnT>
                      <a:noFill/>
                    </a:lnT>
                    <a:lnB>
                      <a:noFill/>
                    </a:lnB>
                  </a:tcPr>
                </a:tc>
                <a:tc>
                  <a:txBody>
                    <a:bodyPr/>
                    <a:lstStyle/>
                    <a:p>
                      <a:r>
                        <a:rPr lang="en-IN" sz="1600" b="1"/>
                        <a:t>Bit Name</a:t>
                      </a:r>
                      <a:endParaRPr lang="en-IN" sz="1600"/>
                    </a:p>
                  </a:txBody>
                  <a:tcPr marL="83814" marR="83814" marT="41907" marB="41907" anchor="ctr">
                    <a:lnL>
                      <a:noFill/>
                    </a:lnL>
                    <a:lnR>
                      <a:noFill/>
                    </a:lnR>
                    <a:lnT>
                      <a:noFill/>
                    </a:lnT>
                    <a:lnB>
                      <a:noFill/>
                    </a:lnB>
                  </a:tcPr>
                </a:tc>
                <a:tc>
                  <a:txBody>
                    <a:bodyPr/>
                    <a:lstStyle/>
                    <a:p>
                      <a:r>
                        <a:rPr lang="en-IN" sz="1600" b="1"/>
                        <a:t>Function</a:t>
                      </a:r>
                      <a:endParaRPr lang="en-IN" sz="1600"/>
                    </a:p>
                  </a:txBody>
                  <a:tcPr marL="83814" marR="83814" marT="41907" marB="41907" anchor="ctr">
                    <a:lnL>
                      <a:noFill/>
                    </a:lnL>
                    <a:lnR>
                      <a:noFill/>
                    </a:lnR>
                    <a:lnT>
                      <a:noFill/>
                    </a:lnT>
                    <a:lnB>
                      <a:noFill/>
                    </a:lnB>
                  </a:tcPr>
                </a:tc>
                <a:tc>
                  <a:txBody>
                    <a:bodyPr/>
                    <a:lstStyle/>
                    <a:p>
                      <a:r>
                        <a:rPr lang="en-IN" sz="1600" b="1"/>
                        <a:t>0 = OFF / 1 = ON</a:t>
                      </a:r>
                      <a:endParaRPr lang="en-IN" sz="1600"/>
                    </a:p>
                  </a:txBody>
                  <a:tcPr marL="83814" marR="83814" marT="41907" marB="41907" anchor="ctr">
                    <a:lnL>
                      <a:noFill/>
                    </a:lnL>
                    <a:lnR>
                      <a:noFill/>
                    </a:lnR>
                    <a:lnT>
                      <a:noFill/>
                    </a:lnT>
                    <a:lnB>
                      <a:noFill/>
                    </a:lnB>
                  </a:tcPr>
                </a:tc>
                <a:extLst>
                  <a:ext uri="{0D108BD9-81ED-4DB2-BD59-A6C34878D82A}">
                    <a16:rowId xmlns:a16="http://schemas.microsoft.com/office/drawing/2014/main" val="10000"/>
                  </a:ext>
                </a:extLst>
              </a:tr>
              <a:tr h="586699">
                <a:tc>
                  <a:txBody>
                    <a:bodyPr/>
                    <a:lstStyle/>
                    <a:p>
                      <a:r>
                        <a:rPr lang="en-IN" sz="1600" b="1"/>
                        <a:t>7</a:t>
                      </a:r>
                      <a:endParaRPr lang="en-IN" sz="1600"/>
                    </a:p>
                  </a:txBody>
                  <a:tcPr marL="83814" marR="83814" marT="41907" marB="41907" anchor="ctr">
                    <a:lnL>
                      <a:noFill/>
                    </a:lnL>
                    <a:lnR>
                      <a:noFill/>
                    </a:lnR>
                    <a:lnT>
                      <a:noFill/>
                    </a:lnT>
                    <a:lnB>
                      <a:noFill/>
                    </a:lnB>
                  </a:tcPr>
                </a:tc>
                <a:tc>
                  <a:txBody>
                    <a:bodyPr/>
                    <a:lstStyle/>
                    <a:p>
                      <a:r>
                        <a:rPr lang="en-IN" sz="1600" dirty="0"/>
                        <a:t>TF1</a:t>
                      </a:r>
                    </a:p>
                  </a:txBody>
                  <a:tcPr marL="83814" marR="83814" marT="41907" marB="41907" anchor="ctr">
                    <a:lnL>
                      <a:noFill/>
                    </a:lnL>
                    <a:lnR>
                      <a:noFill/>
                    </a:lnR>
                    <a:lnT>
                      <a:noFill/>
                    </a:lnT>
                    <a:lnB>
                      <a:noFill/>
                    </a:lnB>
                  </a:tcPr>
                </a:tc>
                <a:tc>
                  <a:txBody>
                    <a:bodyPr/>
                    <a:lstStyle/>
                    <a:p>
                      <a:r>
                        <a:rPr lang="en-IN" sz="1600"/>
                        <a:t>Timer 1 Overflow Flag</a:t>
                      </a:r>
                    </a:p>
                  </a:txBody>
                  <a:tcPr marL="83814" marR="83814" marT="41907" marB="41907" anchor="ctr">
                    <a:lnL>
                      <a:noFill/>
                    </a:lnL>
                    <a:lnR>
                      <a:noFill/>
                    </a:lnR>
                    <a:lnT>
                      <a:noFill/>
                    </a:lnT>
                    <a:lnB>
                      <a:noFill/>
                    </a:lnB>
                  </a:tcPr>
                </a:tc>
                <a:tc>
                  <a:txBody>
                    <a:bodyPr/>
                    <a:lstStyle/>
                    <a:p>
                      <a:r>
                        <a:rPr lang="en-IN" sz="1600"/>
                        <a:t>1 → Timer 1 Overflow</a:t>
                      </a:r>
                    </a:p>
                  </a:txBody>
                  <a:tcPr marL="83814" marR="83814" marT="41907" marB="41907" anchor="ctr">
                    <a:lnL>
                      <a:noFill/>
                    </a:lnL>
                    <a:lnR>
                      <a:noFill/>
                    </a:lnR>
                    <a:lnT>
                      <a:noFill/>
                    </a:lnT>
                    <a:lnB>
                      <a:noFill/>
                    </a:lnB>
                  </a:tcPr>
                </a:tc>
                <a:extLst>
                  <a:ext uri="{0D108BD9-81ED-4DB2-BD59-A6C34878D82A}">
                    <a16:rowId xmlns:a16="http://schemas.microsoft.com/office/drawing/2014/main" val="10001"/>
                  </a:ext>
                </a:extLst>
              </a:tr>
              <a:tr h="335256">
                <a:tc>
                  <a:txBody>
                    <a:bodyPr/>
                    <a:lstStyle/>
                    <a:p>
                      <a:r>
                        <a:rPr lang="en-IN" sz="1600" b="1"/>
                        <a:t>6</a:t>
                      </a:r>
                      <a:endParaRPr lang="en-IN" sz="1600"/>
                    </a:p>
                  </a:txBody>
                  <a:tcPr marL="83814" marR="83814" marT="41907" marB="41907" anchor="ctr">
                    <a:lnL>
                      <a:noFill/>
                    </a:lnL>
                    <a:lnR>
                      <a:noFill/>
                    </a:lnR>
                    <a:lnT>
                      <a:noFill/>
                    </a:lnT>
                    <a:lnB>
                      <a:noFill/>
                    </a:lnB>
                  </a:tcPr>
                </a:tc>
                <a:tc>
                  <a:txBody>
                    <a:bodyPr/>
                    <a:lstStyle/>
                    <a:p>
                      <a:r>
                        <a:rPr lang="en-IN" sz="1600"/>
                        <a:t>TR1</a:t>
                      </a:r>
                    </a:p>
                  </a:txBody>
                  <a:tcPr marL="83814" marR="83814" marT="41907" marB="41907" anchor="ctr">
                    <a:lnL>
                      <a:noFill/>
                    </a:lnL>
                    <a:lnR>
                      <a:noFill/>
                    </a:lnR>
                    <a:lnT>
                      <a:noFill/>
                    </a:lnT>
                    <a:lnB>
                      <a:noFill/>
                    </a:lnB>
                  </a:tcPr>
                </a:tc>
                <a:tc>
                  <a:txBody>
                    <a:bodyPr/>
                    <a:lstStyle/>
                    <a:p>
                      <a:r>
                        <a:rPr lang="en-IN" sz="1600"/>
                        <a:t>Timer 1 Run Control</a:t>
                      </a:r>
                    </a:p>
                  </a:txBody>
                  <a:tcPr marL="83814" marR="83814" marT="41907" marB="41907" anchor="ctr">
                    <a:lnL>
                      <a:noFill/>
                    </a:lnL>
                    <a:lnR>
                      <a:noFill/>
                    </a:lnR>
                    <a:lnT>
                      <a:noFill/>
                    </a:lnT>
                    <a:lnB>
                      <a:noFill/>
                    </a:lnB>
                  </a:tcPr>
                </a:tc>
                <a:tc>
                  <a:txBody>
                    <a:bodyPr/>
                    <a:lstStyle/>
                    <a:p>
                      <a:r>
                        <a:rPr lang="en-IN" sz="1600"/>
                        <a:t>1 → Start Timer 1</a:t>
                      </a:r>
                    </a:p>
                  </a:txBody>
                  <a:tcPr marL="83814" marR="83814" marT="41907" marB="41907" anchor="ctr">
                    <a:lnL>
                      <a:noFill/>
                    </a:lnL>
                    <a:lnR>
                      <a:noFill/>
                    </a:lnR>
                    <a:lnT>
                      <a:noFill/>
                    </a:lnT>
                    <a:lnB>
                      <a:noFill/>
                    </a:lnB>
                  </a:tcPr>
                </a:tc>
                <a:extLst>
                  <a:ext uri="{0D108BD9-81ED-4DB2-BD59-A6C34878D82A}">
                    <a16:rowId xmlns:a16="http://schemas.microsoft.com/office/drawing/2014/main" val="10002"/>
                  </a:ext>
                </a:extLst>
              </a:tr>
              <a:tr h="586699">
                <a:tc>
                  <a:txBody>
                    <a:bodyPr/>
                    <a:lstStyle/>
                    <a:p>
                      <a:r>
                        <a:rPr lang="en-IN" sz="1600" b="1"/>
                        <a:t>5</a:t>
                      </a:r>
                      <a:endParaRPr lang="en-IN" sz="1600"/>
                    </a:p>
                  </a:txBody>
                  <a:tcPr marL="83814" marR="83814" marT="41907" marB="41907" anchor="ctr">
                    <a:lnL>
                      <a:noFill/>
                    </a:lnL>
                    <a:lnR>
                      <a:noFill/>
                    </a:lnR>
                    <a:lnT>
                      <a:noFill/>
                    </a:lnT>
                    <a:lnB>
                      <a:noFill/>
                    </a:lnB>
                  </a:tcPr>
                </a:tc>
                <a:tc>
                  <a:txBody>
                    <a:bodyPr/>
                    <a:lstStyle/>
                    <a:p>
                      <a:r>
                        <a:rPr lang="en-IN" sz="1600"/>
                        <a:t>TF0</a:t>
                      </a:r>
                    </a:p>
                  </a:txBody>
                  <a:tcPr marL="83814" marR="83814" marT="41907" marB="41907" anchor="ctr">
                    <a:lnL>
                      <a:noFill/>
                    </a:lnL>
                    <a:lnR>
                      <a:noFill/>
                    </a:lnR>
                    <a:lnT>
                      <a:noFill/>
                    </a:lnT>
                    <a:lnB>
                      <a:noFill/>
                    </a:lnB>
                  </a:tcPr>
                </a:tc>
                <a:tc>
                  <a:txBody>
                    <a:bodyPr/>
                    <a:lstStyle/>
                    <a:p>
                      <a:r>
                        <a:rPr lang="en-IN" sz="1600"/>
                        <a:t>Timer 0 Overflow Flag</a:t>
                      </a:r>
                    </a:p>
                  </a:txBody>
                  <a:tcPr marL="83814" marR="83814" marT="41907" marB="41907" anchor="ctr">
                    <a:lnL>
                      <a:noFill/>
                    </a:lnL>
                    <a:lnR>
                      <a:noFill/>
                    </a:lnR>
                    <a:lnT>
                      <a:noFill/>
                    </a:lnT>
                    <a:lnB>
                      <a:noFill/>
                    </a:lnB>
                  </a:tcPr>
                </a:tc>
                <a:tc>
                  <a:txBody>
                    <a:bodyPr/>
                    <a:lstStyle/>
                    <a:p>
                      <a:r>
                        <a:rPr lang="en-IN" sz="1600"/>
                        <a:t>1 → Timer 0 Overflow</a:t>
                      </a:r>
                    </a:p>
                  </a:txBody>
                  <a:tcPr marL="83814" marR="83814" marT="41907" marB="41907" anchor="ctr">
                    <a:lnL>
                      <a:noFill/>
                    </a:lnL>
                    <a:lnR>
                      <a:noFill/>
                    </a:lnR>
                    <a:lnT>
                      <a:noFill/>
                    </a:lnT>
                    <a:lnB>
                      <a:noFill/>
                    </a:lnB>
                  </a:tcPr>
                </a:tc>
                <a:extLst>
                  <a:ext uri="{0D108BD9-81ED-4DB2-BD59-A6C34878D82A}">
                    <a16:rowId xmlns:a16="http://schemas.microsoft.com/office/drawing/2014/main" val="10003"/>
                  </a:ext>
                </a:extLst>
              </a:tr>
              <a:tr h="335256">
                <a:tc>
                  <a:txBody>
                    <a:bodyPr/>
                    <a:lstStyle/>
                    <a:p>
                      <a:r>
                        <a:rPr lang="en-IN" sz="1600" b="1"/>
                        <a:t>4</a:t>
                      </a:r>
                      <a:endParaRPr lang="en-IN" sz="1600"/>
                    </a:p>
                  </a:txBody>
                  <a:tcPr marL="83814" marR="83814" marT="41907" marB="41907" anchor="ctr">
                    <a:lnL>
                      <a:noFill/>
                    </a:lnL>
                    <a:lnR>
                      <a:noFill/>
                    </a:lnR>
                    <a:lnT>
                      <a:noFill/>
                    </a:lnT>
                    <a:lnB>
                      <a:noFill/>
                    </a:lnB>
                  </a:tcPr>
                </a:tc>
                <a:tc>
                  <a:txBody>
                    <a:bodyPr/>
                    <a:lstStyle/>
                    <a:p>
                      <a:r>
                        <a:rPr lang="en-IN" sz="1600"/>
                        <a:t>TR0</a:t>
                      </a:r>
                    </a:p>
                  </a:txBody>
                  <a:tcPr marL="83814" marR="83814" marT="41907" marB="41907" anchor="ctr">
                    <a:lnL>
                      <a:noFill/>
                    </a:lnL>
                    <a:lnR>
                      <a:noFill/>
                    </a:lnR>
                    <a:lnT>
                      <a:noFill/>
                    </a:lnT>
                    <a:lnB>
                      <a:noFill/>
                    </a:lnB>
                  </a:tcPr>
                </a:tc>
                <a:tc>
                  <a:txBody>
                    <a:bodyPr/>
                    <a:lstStyle/>
                    <a:p>
                      <a:r>
                        <a:rPr lang="en-IN" sz="1600"/>
                        <a:t>Timer 0 Run Control</a:t>
                      </a:r>
                    </a:p>
                  </a:txBody>
                  <a:tcPr marL="83814" marR="83814" marT="41907" marB="41907" anchor="ctr">
                    <a:lnL>
                      <a:noFill/>
                    </a:lnL>
                    <a:lnR>
                      <a:noFill/>
                    </a:lnR>
                    <a:lnT>
                      <a:noFill/>
                    </a:lnT>
                    <a:lnB>
                      <a:noFill/>
                    </a:lnB>
                  </a:tcPr>
                </a:tc>
                <a:tc>
                  <a:txBody>
                    <a:bodyPr/>
                    <a:lstStyle/>
                    <a:p>
                      <a:r>
                        <a:rPr lang="en-IN" sz="1600"/>
                        <a:t>1 → Start Timer 0</a:t>
                      </a:r>
                    </a:p>
                  </a:txBody>
                  <a:tcPr marL="83814" marR="83814" marT="41907" marB="41907" anchor="ctr">
                    <a:lnL>
                      <a:noFill/>
                    </a:lnL>
                    <a:lnR>
                      <a:noFill/>
                    </a:lnR>
                    <a:lnT>
                      <a:noFill/>
                    </a:lnT>
                    <a:lnB>
                      <a:noFill/>
                    </a:lnB>
                  </a:tcPr>
                </a:tc>
                <a:extLst>
                  <a:ext uri="{0D108BD9-81ED-4DB2-BD59-A6C34878D82A}">
                    <a16:rowId xmlns:a16="http://schemas.microsoft.com/office/drawing/2014/main" val="10004"/>
                  </a:ext>
                </a:extLst>
              </a:tr>
              <a:tr h="586699">
                <a:tc>
                  <a:txBody>
                    <a:bodyPr/>
                    <a:lstStyle/>
                    <a:p>
                      <a:r>
                        <a:rPr lang="en-IN" sz="1600" b="1"/>
                        <a:t>3</a:t>
                      </a:r>
                      <a:endParaRPr lang="en-IN" sz="1600"/>
                    </a:p>
                  </a:txBody>
                  <a:tcPr marL="83814" marR="83814" marT="41907" marB="41907" anchor="ctr">
                    <a:lnL>
                      <a:noFill/>
                    </a:lnL>
                    <a:lnR>
                      <a:noFill/>
                    </a:lnR>
                    <a:lnT>
                      <a:noFill/>
                    </a:lnT>
                    <a:lnB>
                      <a:noFill/>
                    </a:lnB>
                  </a:tcPr>
                </a:tc>
                <a:tc>
                  <a:txBody>
                    <a:bodyPr/>
                    <a:lstStyle/>
                    <a:p>
                      <a:r>
                        <a:rPr lang="en-IN" sz="1600"/>
                        <a:t>IE1</a:t>
                      </a:r>
                    </a:p>
                  </a:txBody>
                  <a:tcPr marL="83814" marR="83814" marT="41907" marB="41907" anchor="ctr">
                    <a:lnL>
                      <a:noFill/>
                    </a:lnL>
                    <a:lnR>
                      <a:noFill/>
                    </a:lnR>
                    <a:lnT>
                      <a:noFill/>
                    </a:lnT>
                    <a:lnB>
                      <a:noFill/>
                    </a:lnB>
                  </a:tcPr>
                </a:tc>
                <a:tc>
                  <a:txBody>
                    <a:bodyPr/>
                    <a:lstStyle/>
                    <a:p>
                      <a:r>
                        <a:rPr lang="en-IN" sz="1600"/>
                        <a:t>External Interrupt 1 Flag</a:t>
                      </a:r>
                    </a:p>
                  </a:txBody>
                  <a:tcPr marL="83814" marR="83814" marT="41907" marB="41907" anchor="ctr">
                    <a:lnL>
                      <a:noFill/>
                    </a:lnL>
                    <a:lnR>
                      <a:noFill/>
                    </a:lnR>
                    <a:lnT>
                      <a:noFill/>
                    </a:lnT>
                    <a:lnB>
                      <a:noFill/>
                    </a:lnB>
                  </a:tcPr>
                </a:tc>
                <a:tc>
                  <a:txBody>
                    <a:bodyPr/>
                    <a:lstStyle/>
                    <a:p>
                      <a:r>
                        <a:rPr lang="en-IN" sz="1600"/>
                        <a:t>1 → Interrupt Occurred</a:t>
                      </a:r>
                    </a:p>
                  </a:txBody>
                  <a:tcPr marL="83814" marR="83814" marT="41907" marB="41907" anchor="ctr">
                    <a:lnL>
                      <a:noFill/>
                    </a:lnL>
                    <a:lnR>
                      <a:noFill/>
                    </a:lnR>
                    <a:lnT>
                      <a:noFill/>
                    </a:lnT>
                    <a:lnB>
                      <a:noFill/>
                    </a:lnB>
                  </a:tcPr>
                </a:tc>
                <a:extLst>
                  <a:ext uri="{0D108BD9-81ED-4DB2-BD59-A6C34878D82A}">
                    <a16:rowId xmlns:a16="http://schemas.microsoft.com/office/drawing/2014/main" val="10005"/>
                  </a:ext>
                </a:extLst>
              </a:tr>
              <a:tr h="586699">
                <a:tc>
                  <a:txBody>
                    <a:bodyPr/>
                    <a:lstStyle/>
                    <a:p>
                      <a:r>
                        <a:rPr lang="en-IN" sz="1600" b="1"/>
                        <a:t>2</a:t>
                      </a:r>
                      <a:endParaRPr lang="en-IN" sz="1600"/>
                    </a:p>
                  </a:txBody>
                  <a:tcPr marL="83814" marR="83814" marT="41907" marB="41907" anchor="ctr">
                    <a:lnL>
                      <a:noFill/>
                    </a:lnL>
                    <a:lnR>
                      <a:noFill/>
                    </a:lnR>
                    <a:lnT>
                      <a:noFill/>
                    </a:lnT>
                    <a:lnB>
                      <a:noFill/>
                    </a:lnB>
                  </a:tcPr>
                </a:tc>
                <a:tc>
                  <a:txBody>
                    <a:bodyPr/>
                    <a:lstStyle/>
                    <a:p>
                      <a:r>
                        <a:rPr lang="en-IN" sz="1600"/>
                        <a:t>IT1</a:t>
                      </a:r>
                    </a:p>
                  </a:txBody>
                  <a:tcPr marL="83814" marR="83814" marT="41907" marB="41907" anchor="ctr">
                    <a:lnL>
                      <a:noFill/>
                    </a:lnL>
                    <a:lnR>
                      <a:noFill/>
                    </a:lnR>
                    <a:lnT>
                      <a:noFill/>
                    </a:lnT>
                    <a:lnB>
                      <a:noFill/>
                    </a:lnB>
                  </a:tcPr>
                </a:tc>
                <a:tc>
                  <a:txBody>
                    <a:bodyPr/>
                    <a:lstStyle/>
                    <a:p>
                      <a:r>
                        <a:rPr lang="en-IN" sz="1600"/>
                        <a:t>External Interrupt 1 Type</a:t>
                      </a:r>
                    </a:p>
                  </a:txBody>
                  <a:tcPr marL="83814" marR="83814" marT="41907" marB="41907" anchor="ctr">
                    <a:lnL>
                      <a:noFill/>
                    </a:lnL>
                    <a:lnR>
                      <a:noFill/>
                    </a:lnR>
                    <a:lnT>
                      <a:noFill/>
                    </a:lnT>
                    <a:lnB>
                      <a:noFill/>
                    </a:lnB>
                  </a:tcPr>
                </a:tc>
                <a:tc>
                  <a:txBody>
                    <a:bodyPr/>
                    <a:lstStyle/>
                    <a:p>
                      <a:r>
                        <a:rPr lang="en-IN" sz="1600"/>
                        <a:t>1 → Edge, 0 → Level</a:t>
                      </a:r>
                    </a:p>
                  </a:txBody>
                  <a:tcPr marL="83814" marR="83814" marT="41907" marB="41907" anchor="ctr">
                    <a:lnL>
                      <a:noFill/>
                    </a:lnL>
                    <a:lnR>
                      <a:noFill/>
                    </a:lnR>
                    <a:lnT>
                      <a:noFill/>
                    </a:lnT>
                    <a:lnB>
                      <a:noFill/>
                    </a:lnB>
                  </a:tcPr>
                </a:tc>
                <a:extLst>
                  <a:ext uri="{0D108BD9-81ED-4DB2-BD59-A6C34878D82A}">
                    <a16:rowId xmlns:a16="http://schemas.microsoft.com/office/drawing/2014/main" val="10006"/>
                  </a:ext>
                </a:extLst>
              </a:tr>
              <a:tr h="586699">
                <a:tc>
                  <a:txBody>
                    <a:bodyPr/>
                    <a:lstStyle/>
                    <a:p>
                      <a:r>
                        <a:rPr lang="en-IN" sz="1600" b="1"/>
                        <a:t>1</a:t>
                      </a:r>
                      <a:endParaRPr lang="en-IN" sz="1600"/>
                    </a:p>
                  </a:txBody>
                  <a:tcPr marL="83814" marR="83814" marT="41907" marB="41907" anchor="ctr">
                    <a:lnL>
                      <a:noFill/>
                    </a:lnL>
                    <a:lnR>
                      <a:noFill/>
                    </a:lnR>
                    <a:lnT>
                      <a:noFill/>
                    </a:lnT>
                    <a:lnB>
                      <a:noFill/>
                    </a:lnB>
                  </a:tcPr>
                </a:tc>
                <a:tc>
                  <a:txBody>
                    <a:bodyPr/>
                    <a:lstStyle/>
                    <a:p>
                      <a:r>
                        <a:rPr lang="en-IN" sz="1600"/>
                        <a:t>IE0</a:t>
                      </a:r>
                    </a:p>
                  </a:txBody>
                  <a:tcPr marL="83814" marR="83814" marT="41907" marB="41907" anchor="ctr">
                    <a:lnL>
                      <a:noFill/>
                    </a:lnL>
                    <a:lnR>
                      <a:noFill/>
                    </a:lnR>
                    <a:lnT>
                      <a:noFill/>
                    </a:lnT>
                    <a:lnB>
                      <a:noFill/>
                    </a:lnB>
                  </a:tcPr>
                </a:tc>
                <a:tc>
                  <a:txBody>
                    <a:bodyPr/>
                    <a:lstStyle/>
                    <a:p>
                      <a:r>
                        <a:rPr lang="en-IN" sz="1600"/>
                        <a:t>External Interrupt 0 Flag</a:t>
                      </a:r>
                    </a:p>
                  </a:txBody>
                  <a:tcPr marL="83814" marR="83814" marT="41907" marB="41907" anchor="ctr">
                    <a:lnL>
                      <a:noFill/>
                    </a:lnL>
                    <a:lnR>
                      <a:noFill/>
                    </a:lnR>
                    <a:lnT>
                      <a:noFill/>
                    </a:lnT>
                    <a:lnB>
                      <a:noFill/>
                    </a:lnB>
                  </a:tcPr>
                </a:tc>
                <a:tc>
                  <a:txBody>
                    <a:bodyPr/>
                    <a:lstStyle/>
                    <a:p>
                      <a:r>
                        <a:rPr lang="en-IN" sz="1600"/>
                        <a:t>1 → Interrupt Occurred</a:t>
                      </a:r>
                    </a:p>
                  </a:txBody>
                  <a:tcPr marL="83814" marR="83814" marT="41907" marB="41907" anchor="ctr">
                    <a:lnL>
                      <a:noFill/>
                    </a:lnL>
                    <a:lnR>
                      <a:noFill/>
                    </a:lnR>
                    <a:lnT>
                      <a:noFill/>
                    </a:lnT>
                    <a:lnB>
                      <a:noFill/>
                    </a:lnB>
                  </a:tcPr>
                </a:tc>
                <a:extLst>
                  <a:ext uri="{0D108BD9-81ED-4DB2-BD59-A6C34878D82A}">
                    <a16:rowId xmlns:a16="http://schemas.microsoft.com/office/drawing/2014/main" val="10007"/>
                  </a:ext>
                </a:extLst>
              </a:tr>
              <a:tr h="586699">
                <a:tc>
                  <a:txBody>
                    <a:bodyPr/>
                    <a:lstStyle/>
                    <a:p>
                      <a:r>
                        <a:rPr lang="en-IN" sz="1600" b="1"/>
                        <a:t>0</a:t>
                      </a:r>
                      <a:endParaRPr lang="en-IN" sz="1600"/>
                    </a:p>
                  </a:txBody>
                  <a:tcPr marL="83814" marR="83814" marT="41907" marB="41907" anchor="ctr">
                    <a:lnL>
                      <a:noFill/>
                    </a:lnL>
                    <a:lnR>
                      <a:noFill/>
                    </a:lnR>
                    <a:lnT>
                      <a:noFill/>
                    </a:lnT>
                    <a:lnB>
                      <a:noFill/>
                    </a:lnB>
                  </a:tcPr>
                </a:tc>
                <a:tc>
                  <a:txBody>
                    <a:bodyPr/>
                    <a:lstStyle/>
                    <a:p>
                      <a:r>
                        <a:rPr lang="en-IN" sz="1600"/>
                        <a:t>IT0</a:t>
                      </a:r>
                    </a:p>
                  </a:txBody>
                  <a:tcPr marL="83814" marR="83814" marT="41907" marB="41907" anchor="ctr">
                    <a:lnL>
                      <a:noFill/>
                    </a:lnL>
                    <a:lnR>
                      <a:noFill/>
                    </a:lnR>
                    <a:lnT>
                      <a:noFill/>
                    </a:lnT>
                    <a:lnB>
                      <a:noFill/>
                    </a:lnB>
                  </a:tcPr>
                </a:tc>
                <a:tc>
                  <a:txBody>
                    <a:bodyPr/>
                    <a:lstStyle/>
                    <a:p>
                      <a:r>
                        <a:rPr lang="en-IN" sz="1600"/>
                        <a:t>External Interrupt 0 Type</a:t>
                      </a:r>
                    </a:p>
                  </a:txBody>
                  <a:tcPr marL="83814" marR="83814" marT="41907" marB="41907" anchor="ctr">
                    <a:lnL>
                      <a:noFill/>
                    </a:lnL>
                    <a:lnR>
                      <a:noFill/>
                    </a:lnR>
                    <a:lnT>
                      <a:noFill/>
                    </a:lnT>
                    <a:lnB>
                      <a:noFill/>
                    </a:lnB>
                  </a:tcPr>
                </a:tc>
                <a:tc>
                  <a:txBody>
                    <a:bodyPr/>
                    <a:lstStyle/>
                    <a:p>
                      <a:r>
                        <a:rPr lang="en-IN" sz="1600" dirty="0"/>
                        <a:t>1 → Edge, 0 → Level</a:t>
                      </a:r>
                    </a:p>
                  </a:txBody>
                  <a:tcPr marL="83814" marR="83814" marT="41907" marB="41907" anchor="ctr">
                    <a:lnL>
                      <a:noFill/>
                    </a:lnL>
                    <a:lnR>
                      <a:noFill/>
                    </a:lnR>
                    <a:lnT>
                      <a:noFill/>
                    </a:lnT>
                    <a:lnB>
                      <a:noFill/>
                    </a:lnB>
                  </a:tcPr>
                </a:tc>
                <a:extLst>
                  <a:ext uri="{0D108BD9-81ED-4DB2-BD59-A6C34878D82A}">
                    <a16:rowId xmlns:a16="http://schemas.microsoft.com/office/drawing/2014/main" val="10008"/>
                  </a:ext>
                </a:extLst>
              </a:tr>
            </a:tbl>
          </a:graphicData>
        </a:graphic>
      </p:graphicFrame>
      <p:sp>
        <p:nvSpPr>
          <p:cNvPr id="5" name="Rectangle 1"/>
          <p:cNvSpPr>
            <a:spLocks noChangeArrowheads="1"/>
          </p:cNvSpPr>
          <p:nvPr/>
        </p:nvSpPr>
        <p:spPr bwMode="auto">
          <a:xfrm>
            <a:off x="800100" y="1567190"/>
            <a:ext cx="2279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30567240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smtClean="0"/>
              <a:t>For </a:t>
            </a:r>
            <a:r>
              <a:rPr lang="en-IN" dirty="0" err="1" smtClean="0"/>
              <a:t>Eg</a:t>
            </a:r>
            <a:r>
              <a:rPr lang="en-IN" dirty="0" smtClean="0"/>
              <a:t>. Start </a:t>
            </a:r>
            <a:r>
              <a:rPr lang="en-IN" dirty="0"/>
              <a:t>Timer 0 in Mode </a:t>
            </a:r>
            <a:r>
              <a:rPr lang="en-IN" dirty="0" smtClean="0"/>
              <a:t>1</a:t>
            </a:r>
            <a:endParaRPr lang="da-DK" dirty="0"/>
          </a:p>
          <a:p>
            <a:r>
              <a:rPr lang="da-DK" dirty="0" smtClean="0"/>
              <a:t>SETB </a:t>
            </a:r>
            <a:r>
              <a:rPr lang="da-DK" dirty="0"/>
              <a:t>TR0  ; Start Timer 0</a:t>
            </a:r>
          </a:p>
          <a:p>
            <a:r>
              <a:rPr lang="da-DK" dirty="0"/>
              <a:t>CLR TR0   ; Stop Timer </a:t>
            </a:r>
            <a:r>
              <a:rPr lang="da-DK" dirty="0" smtClean="0"/>
              <a:t>0</a:t>
            </a:r>
          </a:p>
          <a:p>
            <a:endParaRPr lang="en-IN" dirty="0"/>
          </a:p>
        </p:txBody>
      </p:sp>
      <p:pic>
        <p:nvPicPr>
          <p:cNvPr id="512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3429001"/>
            <a:ext cx="6858000" cy="3255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03224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TMOD</a:t>
            </a:r>
            <a:endParaRPr lang="en-IN" dirty="0"/>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990601"/>
            <a:ext cx="8458199"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Table 5"/>
          <p:cNvGraphicFramePr>
            <a:graphicFrameLocks noGrp="1"/>
          </p:cNvGraphicFramePr>
          <p:nvPr>
            <p:extLst>
              <p:ext uri="{D42A27DB-BD31-4B8C-83A1-F6EECF244321}">
                <p14:modId xmlns:p14="http://schemas.microsoft.com/office/powerpoint/2010/main" val="3528185166"/>
              </p:ext>
            </p:extLst>
          </p:nvPr>
        </p:nvGraphicFramePr>
        <p:xfrm>
          <a:off x="1066800" y="2971800"/>
          <a:ext cx="7620000" cy="3183988"/>
        </p:xfrm>
        <a:graphic>
          <a:graphicData uri="http://schemas.openxmlformats.org/drawingml/2006/table">
            <a:tbl>
              <a:tblPr firstRow="1" bandRow="1">
                <a:tableStyleId>{5C22544A-7EE6-4342-B048-85BDC9FD1C3A}</a:tableStyleId>
              </a:tblPr>
              <a:tblGrid>
                <a:gridCol w="788276">
                  <a:extLst>
                    <a:ext uri="{9D8B030D-6E8A-4147-A177-3AD203B41FA5}">
                      <a16:colId xmlns:a16="http://schemas.microsoft.com/office/drawing/2014/main" val="20000"/>
                    </a:ext>
                  </a:extLst>
                </a:gridCol>
                <a:gridCol w="875862">
                  <a:extLst>
                    <a:ext uri="{9D8B030D-6E8A-4147-A177-3AD203B41FA5}">
                      <a16:colId xmlns:a16="http://schemas.microsoft.com/office/drawing/2014/main" val="20001"/>
                    </a:ext>
                  </a:extLst>
                </a:gridCol>
                <a:gridCol w="1313793">
                  <a:extLst>
                    <a:ext uri="{9D8B030D-6E8A-4147-A177-3AD203B41FA5}">
                      <a16:colId xmlns:a16="http://schemas.microsoft.com/office/drawing/2014/main" val="20002"/>
                    </a:ext>
                  </a:extLst>
                </a:gridCol>
                <a:gridCol w="4642069">
                  <a:extLst>
                    <a:ext uri="{9D8B030D-6E8A-4147-A177-3AD203B41FA5}">
                      <a16:colId xmlns:a16="http://schemas.microsoft.com/office/drawing/2014/main" val="20003"/>
                    </a:ext>
                  </a:extLst>
                </a:gridCol>
              </a:tblGrid>
              <a:tr h="412652">
                <a:tc>
                  <a:txBody>
                    <a:bodyPr/>
                    <a:lstStyle/>
                    <a:p>
                      <a:r>
                        <a:rPr lang="en-IN" b="1" dirty="0" smtClean="0"/>
                        <a:t>M0   </a:t>
                      </a:r>
                      <a:endParaRPr lang="en-IN" dirty="0"/>
                    </a:p>
                  </a:txBody>
                  <a:tcPr/>
                </a:tc>
                <a:tc>
                  <a:txBody>
                    <a:bodyPr/>
                    <a:lstStyle/>
                    <a:p>
                      <a:r>
                        <a:rPr lang="en-IN" b="1" dirty="0" smtClean="0"/>
                        <a:t>M1  </a:t>
                      </a:r>
                      <a:endParaRPr lang="en-IN" dirty="0"/>
                    </a:p>
                  </a:txBody>
                  <a:tcPr/>
                </a:tc>
                <a:tc>
                  <a:txBody>
                    <a:bodyPr/>
                    <a:lstStyle/>
                    <a:p>
                      <a:r>
                        <a:rPr lang="en-IN" b="1" dirty="0" smtClean="0"/>
                        <a:t>Mode      </a:t>
                      </a:r>
                      <a:endParaRPr lang="en-IN" dirty="0"/>
                    </a:p>
                  </a:txBody>
                  <a:tcPr/>
                </a:tc>
                <a:tc>
                  <a:txBody>
                    <a:bodyPr/>
                    <a:lstStyle/>
                    <a:p>
                      <a:r>
                        <a:rPr lang="en-IN" b="1" dirty="0" smtClean="0"/>
                        <a:t>   Operating Mode</a:t>
                      </a:r>
                      <a:endParaRPr lang="en-IN" dirty="0"/>
                    </a:p>
                  </a:txBody>
                  <a:tcPr/>
                </a:tc>
                <a:extLst>
                  <a:ext uri="{0D108BD9-81ED-4DB2-BD59-A6C34878D82A}">
                    <a16:rowId xmlns:a16="http://schemas.microsoft.com/office/drawing/2014/main" val="10000"/>
                  </a:ext>
                </a:extLst>
              </a:tr>
              <a:tr h="722142">
                <a:tc>
                  <a:txBody>
                    <a:bodyPr/>
                    <a:lstStyle/>
                    <a:p>
                      <a:r>
                        <a:rPr lang="en-US" dirty="0" smtClean="0"/>
                        <a:t>0</a:t>
                      </a:r>
                      <a:endParaRPr lang="en-IN" dirty="0"/>
                    </a:p>
                  </a:txBody>
                  <a:tcPr/>
                </a:tc>
                <a:tc>
                  <a:txBody>
                    <a:bodyPr/>
                    <a:lstStyle/>
                    <a:p>
                      <a:r>
                        <a:rPr lang="en-US" dirty="0" smtClean="0"/>
                        <a:t>0</a:t>
                      </a:r>
                      <a:endParaRPr lang="en-IN" dirty="0"/>
                    </a:p>
                  </a:txBody>
                  <a:tcPr/>
                </a:tc>
                <a:tc>
                  <a:txBody>
                    <a:bodyPr/>
                    <a:lstStyle/>
                    <a:p>
                      <a:r>
                        <a:rPr lang="en-IN" b="1" dirty="0" smtClean="0"/>
                        <a:t>Mode  0</a:t>
                      </a:r>
                      <a:endParaRPr lang="en-IN" dirty="0"/>
                    </a:p>
                  </a:txBody>
                  <a:tcPr/>
                </a:tc>
                <a:tc>
                  <a:txBody>
                    <a:bodyPr/>
                    <a:lstStyle/>
                    <a:p>
                      <a:r>
                        <a:rPr lang="en-US" dirty="0" smtClean="0"/>
                        <a:t>13-bit timer mode, 8-bit timer/counter </a:t>
                      </a:r>
                      <a:r>
                        <a:rPr lang="en-US" dirty="0" err="1" smtClean="0"/>
                        <a:t>THx</a:t>
                      </a:r>
                      <a:r>
                        <a:rPr lang="en-US" dirty="0" smtClean="0"/>
                        <a:t> and </a:t>
                      </a:r>
                      <a:r>
                        <a:rPr lang="en-US" dirty="0" err="1" smtClean="0"/>
                        <a:t>TLx</a:t>
                      </a:r>
                      <a:r>
                        <a:rPr lang="en-US" dirty="0" smtClean="0"/>
                        <a:t> as 5-bit </a:t>
                      </a:r>
                      <a:r>
                        <a:rPr lang="en-US" dirty="0" err="1" smtClean="0"/>
                        <a:t>prescalar</a:t>
                      </a:r>
                      <a:r>
                        <a:rPr lang="en-US" dirty="0" smtClean="0"/>
                        <a:t>.</a:t>
                      </a:r>
                      <a:endParaRPr lang="en-IN" dirty="0"/>
                    </a:p>
                  </a:txBody>
                  <a:tcPr/>
                </a:tc>
                <a:extLst>
                  <a:ext uri="{0D108BD9-81ED-4DB2-BD59-A6C34878D82A}">
                    <a16:rowId xmlns:a16="http://schemas.microsoft.com/office/drawing/2014/main" val="10001"/>
                  </a:ext>
                </a:extLst>
              </a:tr>
              <a:tr h="722142">
                <a:tc>
                  <a:txBody>
                    <a:bodyPr/>
                    <a:lstStyle/>
                    <a:p>
                      <a:r>
                        <a:rPr lang="en-US" dirty="0" smtClean="0"/>
                        <a:t>0</a:t>
                      </a:r>
                      <a:endParaRPr lang="en-IN" dirty="0"/>
                    </a:p>
                  </a:txBody>
                  <a:tcPr/>
                </a:tc>
                <a:tc>
                  <a:txBody>
                    <a:bodyPr/>
                    <a:lstStyle/>
                    <a:p>
                      <a:r>
                        <a:rPr lang="en-US" dirty="0" smtClean="0"/>
                        <a:t>1</a:t>
                      </a:r>
                      <a:endParaRPr lang="en-IN" dirty="0"/>
                    </a:p>
                  </a:txBody>
                  <a:tcPr/>
                </a:tc>
                <a:tc>
                  <a:txBody>
                    <a:bodyPr/>
                    <a:lstStyle/>
                    <a:p>
                      <a:r>
                        <a:rPr lang="en-IN" b="1" dirty="0" smtClean="0"/>
                        <a:t>Mode  1</a:t>
                      </a:r>
                      <a:endParaRPr lang="en-IN" dirty="0"/>
                    </a:p>
                  </a:txBody>
                  <a:tcPr/>
                </a:tc>
                <a:tc>
                  <a:txBody>
                    <a:bodyPr/>
                    <a:lstStyle/>
                    <a:p>
                      <a:r>
                        <a:rPr lang="en-US" dirty="0" smtClean="0"/>
                        <a:t>16-bit timer mode, 16-bit timer/counters </a:t>
                      </a:r>
                      <a:r>
                        <a:rPr lang="en-US" dirty="0" err="1" smtClean="0"/>
                        <a:t>THx</a:t>
                      </a:r>
                      <a:r>
                        <a:rPr lang="en-US" dirty="0" smtClean="0"/>
                        <a:t> and </a:t>
                      </a:r>
                      <a:r>
                        <a:rPr lang="en-US" dirty="0" err="1" smtClean="0"/>
                        <a:t>TLx</a:t>
                      </a:r>
                      <a:r>
                        <a:rPr lang="en-US" dirty="0" smtClean="0"/>
                        <a:t> are cascaded; There are no </a:t>
                      </a:r>
                      <a:r>
                        <a:rPr lang="en-US" dirty="0" err="1" smtClean="0"/>
                        <a:t>prescalar</a:t>
                      </a:r>
                      <a:r>
                        <a:rPr lang="en-US" dirty="0" smtClean="0"/>
                        <a:t>.</a:t>
                      </a:r>
                      <a:endParaRPr lang="en-IN" dirty="0"/>
                    </a:p>
                  </a:txBody>
                  <a:tcPr/>
                </a:tc>
                <a:extLst>
                  <a:ext uri="{0D108BD9-81ED-4DB2-BD59-A6C34878D82A}">
                    <a16:rowId xmlns:a16="http://schemas.microsoft.com/office/drawing/2014/main" val="10002"/>
                  </a:ext>
                </a:extLst>
              </a:tr>
              <a:tr h="412652">
                <a:tc>
                  <a:txBody>
                    <a:bodyPr/>
                    <a:lstStyle/>
                    <a:p>
                      <a:r>
                        <a:rPr lang="en-US" dirty="0" smtClean="0"/>
                        <a:t>1</a:t>
                      </a:r>
                      <a:endParaRPr lang="en-IN" dirty="0"/>
                    </a:p>
                  </a:txBody>
                  <a:tcPr/>
                </a:tc>
                <a:tc>
                  <a:txBody>
                    <a:bodyPr/>
                    <a:lstStyle/>
                    <a:p>
                      <a:r>
                        <a:rPr lang="en-US" dirty="0" smtClean="0"/>
                        <a:t>0</a:t>
                      </a:r>
                      <a:endParaRPr lang="en-IN" dirty="0"/>
                    </a:p>
                  </a:txBody>
                  <a:tcPr/>
                </a:tc>
                <a:tc>
                  <a:txBody>
                    <a:bodyPr/>
                    <a:lstStyle/>
                    <a:p>
                      <a:r>
                        <a:rPr lang="en-IN" b="1" dirty="0" smtClean="0"/>
                        <a:t>Mode  2</a:t>
                      </a:r>
                      <a:endParaRPr lang="en-IN" dirty="0"/>
                    </a:p>
                  </a:txBody>
                  <a:tcPr/>
                </a:tc>
                <a:tc>
                  <a:txBody>
                    <a:bodyPr/>
                    <a:lstStyle/>
                    <a:p>
                      <a:r>
                        <a:rPr lang="en-US" dirty="0" smtClean="0"/>
                        <a:t>8-bit auto reload mode, 8-bit auto reload timer/counter; </a:t>
                      </a:r>
                      <a:r>
                        <a:rPr lang="en-US" dirty="0" err="1" smtClean="0"/>
                        <a:t>THx</a:t>
                      </a:r>
                      <a:r>
                        <a:rPr lang="en-US" dirty="0" smtClean="0"/>
                        <a:t> holds a value which is to be reloaded into </a:t>
                      </a:r>
                      <a:r>
                        <a:rPr lang="en-US" dirty="0" err="1" smtClean="0"/>
                        <a:t>TLx</a:t>
                      </a:r>
                      <a:r>
                        <a:rPr lang="en-US" dirty="0" smtClean="0"/>
                        <a:t> each </a:t>
                      </a:r>
                      <a:endParaRPr lang="en-IN" dirty="0"/>
                    </a:p>
                  </a:txBody>
                  <a:tcPr/>
                </a:tc>
                <a:extLst>
                  <a:ext uri="{0D108BD9-81ED-4DB2-BD59-A6C34878D82A}">
                    <a16:rowId xmlns:a16="http://schemas.microsoft.com/office/drawing/2014/main" val="10003"/>
                  </a:ext>
                </a:extLst>
              </a:tr>
              <a:tr h="412652">
                <a:tc>
                  <a:txBody>
                    <a:bodyPr/>
                    <a:lstStyle/>
                    <a:p>
                      <a:r>
                        <a:rPr lang="en-US" dirty="0" smtClean="0"/>
                        <a:t>1</a:t>
                      </a:r>
                      <a:endParaRPr lang="en-IN" dirty="0"/>
                    </a:p>
                  </a:txBody>
                  <a:tcPr/>
                </a:tc>
                <a:tc>
                  <a:txBody>
                    <a:bodyPr/>
                    <a:lstStyle/>
                    <a:p>
                      <a:r>
                        <a:rPr lang="en-US" dirty="0" smtClean="0"/>
                        <a:t>1</a:t>
                      </a:r>
                      <a:endParaRPr lang="en-IN" dirty="0"/>
                    </a:p>
                  </a:txBody>
                  <a:tcPr/>
                </a:tc>
                <a:tc>
                  <a:txBody>
                    <a:bodyPr/>
                    <a:lstStyle/>
                    <a:p>
                      <a:r>
                        <a:rPr lang="en-IN" b="1" dirty="0" smtClean="0"/>
                        <a:t>Mode  3</a:t>
                      </a:r>
                      <a:endParaRPr lang="en-IN" dirty="0"/>
                    </a:p>
                  </a:txBody>
                  <a:tcPr/>
                </a:tc>
                <a:tc>
                  <a:txBody>
                    <a:bodyPr/>
                    <a:lstStyle/>
                    <a:p>
                      <a:r>
                        <a:rPr lang="en-IN" dirty="0" smtClean="0"/>
                        <a:t>Spilt timer mode.</a:t>
                      </a:r>
                      <a:endParaRPr lang="en-IN"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52628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Programming the 8051 Timers</a:t>
            </a:r>
            <a:r>
              <a:rPr lang="en-IN" dirty="0"/>
              <a:t/>
            </a:r>
            <a:br>
              <a:rPr lang="en-IN" dirty="0"/>
            </a:br>
            <a:endParaRPr lang="en-IN" dirty="0"/>
          </a:p>
        </p:txBody>
      </p:sp>
      <p:sp>
        <p:nvSpPr>
          <p:cNvPr id="3" name="Content Placeholder 2"/>
          <p:cNvSpPr>
            <a:spLocks noGrp="1"/>
          </p:cNvSpPr>
          <p:nvPr>
            <p:ph idx="1"/>
          </p:nvPr>
        </p:nvSpPr>
        <p:spPr/>
        <p:txBody>
          <a:bodyPr>
            <a:normAutofit fontScale="85000" lnSpcReduction="10000"/>
          </a:bodyPr>
          <a:lstStyle/>
          <a:p>
            <a:r>
              <a:rPr lang="en-US" b="1" dirty="0"/>
              <a:t>1.Generating a Delay using Timer Mode 1 (16-bit mode)</a:t>
            </a:r>
            <a:endParaRPr lang="en-IN" dirty="0"/>
          </a:p>
          <a:p>
            <a:r>
              <a:rPr lang="en-US" b="1" dirty="0"/>
              <a:t> </a:t>
            </a:r>
            <a:endParaRPr lang="en-IN" dirty="0"/>
          </a:p>
          <a:p>
            <a:r>
              <a:rPr lang="en-US" dirty="0"/>
              <a:t>MOV TMOD, #01H     ;   Select Timer 0, Mode 1 (16-bit)</a:t>
            </a:r>
            <a:endParaRPr lang="en-IN" dirty="0"/>
          </a:p>
          <a:p>
            <a:r>
              <a:rPr lang="en-US" dirty="0"/>
              <a:t>MOV TH0, #0xFC     ;     Load high byte</a:t>
            </a:r>
            <a:endParaRPr lang="en-IN" dirty="0"/>
          </a:p>
          <a:p>
            <a:r>
              <a:rPr lang="en-US" dirty="0"/>
              <a:t>MOV TL0, #0x66     ;      Load low byte (for 1ms delay)</a:t>
            </a:r>
            <a:endParaRPr lang="en-IN" dirty="0"/>
          </a:p>
          <a:p>
            <a:r>
              <a:rPr lang="en-US" dirty="0"/>
              <a:t>SETB TR0           ;           Start Timer 0</a:t>
            </a:r>
            <a:endParaRPr lang="en-IN" dirty="0"/>
          </a:p>
          <a:p>
            <a:r>
              <a:rPr lang="en-US" dirty="0"/>
              <a:t>HERE: JNB TF0,     HERE; Wait until overflow (TF0 = 1)</a:t>
            </a:r>
            <a:endParaRPr lang="en-IN" dirty="0"/>
          </a:p>
          <a:p>
            <a:r>
              <a:rPr lang="en-US" dirty="0"/>
              <a:t>CLR TR0            ;            Stop Timer</a:t>
            </a:r>
            <a:endParaRPr lang="en-IN" dirty="0"/>
          </a:p>
          <a:p>
            <a:r>
              <a:rPr lang="en-US" dirty="0"/>
              <a:t>CLR TF0            ;           Clear overflow flag</a:t>
            </a:r>
            <a:endParaRPr lang="en-IN" dirty="0"/>
          </a:p>
          <a:p>
            <a:endParaRPr lang="en-IN" dirty="0"/>
          </a:p>
        </p:txBody>
      </p:sp>
    </p:spTree>
    <p:extLst>
      <p:ext uri="{BB962C8B-B14F-4D97-AF65-F5344CB8AC3E}">
        <p14:creationId xmlns:p14="http://schemas.microsoft.com/office/powerpoint/2010/main" val="32815937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2. Using Timer in Mode 2 (8-bit auto-reload)</a:t>
            </a:r>
            <a:r>
              <a:rPr lang="en-IN" b="1" dirty="0"/>
              <a:t/>
            </a:r>
            <a:br>
              <a:rPr lang="en-IN" b="1" dirty="0"/>
            </a:br>
            <a:endParaRPr lang="en-IN" dirty="0"/>
          </a:p>
        </p:txBody>
      </p:sp>
      <p:sp>
        <p:nvSpPr>
          <p:cNvPr id="3" name="Content Placeholder 2"/>
          <p:cNvSpPr>
            <a:spLocks noGrp="1"/>
          </p:cNvSpPr>
          <p:nvPr>
            <p:ph idx="1"/>
          </p:nvPr>
        </p:nvSpPr>
        <p:spPr/>
        <p:txBody>
          <a:bodyPr/>
          <a:lstStyle/>
          <a:p>
            <a:r>
              <a:rPr lang="en-US" dirty="0"/>
              <a:t>MOV TMOD, #</a:t>
            </a:r>
            <a:r>
              <a:rPr lang="en-US" dirty="0" smtClean="0"/>
              <a:t>20H </a:t>
            </a:r>
            <a:r>
              <a:rPr lang="en-US" dirty="0"/>
              <a:t>; Select Timer 1, </a:t>
            </a:r>
            <a:r>
              <a:rPr lang="en-US" dirty="0" smtClean="0"/>
              <a:t>Mode2 MOV </a:t>
            </a:r>
            <a:r>
              <a:rPr lang="en-US" dirty="0"/>
              <a:t>TH1, #0xFD  </a:t>
            </a:r>
            <a:r>
              <a:rPr lang="en-US" dirty="0" smtClean="0"/>
              <a:t> </a:t>
            </a:r>
            <a:r>
              <a:rPr lang="en-US" dirty="0"/>
              <a:t>; Load auto-reload </a:t>
            </a:r>
            <a:r>
              <a:rPr lang="en-US" dirty="0" smtClean="0"/>
              <a:t>value</a:t>
            </a:r>
          </a:p>
          <a:p>
            <a:pPr marL="0" indent="0">
              <a:buNone/>
            </a:pPr>
            <a:r>
              <a:rPr lang="en-US" dirty="0" smtClean="0"/>
              <a:t>   MOV </a:t>
            </a:r>
            <a:r>
              <a:rPr lang="en-US" dirty="0"/>
              <a:t>TL1, #0xFD     ; Load initial </a:t>
            </a:r>
            <a:r>
              <a:rPr lang="en-US" dirty="0" smtClean="0"/>
              <a:t>value</a:t>
            </a:r>
          </a:p>
          <a:p>
            <a:pPr marL="0" indent="0">
              <a:buNone/>
            </a:pPr>
            <a:r>
              <a:rPr lang="en-US" dirty="0" smtClean="0"/>
              <a:t>    SETB </a:t>
            </a:r>
            <a:r>
              <a:rPr lang="en-US" dirty="0"/>
              <a:t>TR1           ; Start Timer </a:t>
            </a:r>
            <a:r>
              <a:rPr lang="en-US" dirty="0" smtClean="0"/>
              <a:t>1</a:t>
            </a:r>
          </a:p>
          <a:p>
            <a:pPr marL="0" indent="0">
              <a:buNone/>
            </a:pPr>
            <a:r>
              <a:rPr lang="en-US" dirty="0" smtClean="0"/>
              <a:t>    HERE</a:t>
            </a:r>
            <a:r>
              <a:rPr lang="en-US" dirty="0"/>
              <a:t>: JNB TF1, HERE; Wait for </a:t>
            </a:r>
            <a:r>
              <a:rPr lang="en-US" dirty="0" smtClean="0"/>
              <a:t>overflow</a:t>
            </a:r>
          </a:p>
          <a:p>
            <a:pPr marL="0" indent="0">
              <a:buNone/>
            </a:pPr>
            <a:r>
              <a:rPr lang="en-US" dirty="0"/>
              <a:t> </a:t>
            </a:r>
            <a:r>
              <a:rPr lang="en-US" dirty="0" smtClean="0"/>
              <a:t>   CLR </a:t>
            </a:r>
            <a:r>
              <a:rPr lang="en-US" dirty="0"/>
              <a:t>TF1            ; Clear overflow flag</a:t>
            </a:r>
            <a:endParaRPr lang="en-IN" dirty="0"/>
          </a:p>
        </p:txBody>
      </p:sp>
    </p:spTree>
    <p:extLst>
      <p:ext uri="{BB962C8B-B14F-4D97-AF65-F5344CB8AC3E}">
        <p14:creationId xmlns:p14="http://schemas.microsoft.com/office/powerpoint/2010/main" val="16119047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3.Using Timer as an Event Counter</a:t>
            </a:r>
            <a:endParaRPr lang="en-IN" dirty="0"/>
          </a:p>
        </p:txBody>
      </p:sp>
      <p:sp>
        <p:nvSpPr>
          <p:cNvPr id="3" name="Content Placeholder 2"/>
          <p:cNvSpPr>
            <a:spLocks noGrp="1"/>
          </p:cNvSpPr>
          <p:nvPr>
            <p:ph idx="1"/>
          </p:nvPr>
        </p:nvSpPr>
        <p:spPr>
          <a:xfrm>
            <a:off x="457200" y="1600200"/>
            <a:ext cx="8382000" cy="4525963"/>
          </a:xfrm>
        </p:spPr>
        <p:txBody>
          <a:bodyPr/>
          <a:lstStyle/>
          <a:p>
            <a:r>
              <a:rPr lang="en-US" dirty="0"/>
              <a:t>MOV TMOD, #05H </a:t>
            </a:r>
            <a:r>
              <a:rPr lang="en-US" dirty="0" smtClean="0"/>
              <a:t> </a:t>
            </a:r>
            <a:r>
              <a:rPr lang="en-US" dirty="0"/>
              <a:t>; Select Timer 0 </a:t>
            </a:r>
            <a:r>
              <a:rPr lang="en-US" dirty="0" smtClean="0"/>
              <a:t>as Counter</a:t>
            </a:r>
            <a:r>
              <a:rPr lang="en-US" dirty="0"/>
              <a:t>, </a:t>
            </a:r>
            <a:r>
              <a:rPr lang="en-US" dirty="0" smtClean="0"/>
              <a:t>      				Mode 1</a:t>
            </a:r>
          </a:p>
          <a:p>
            <a:r>
              <a:rPr lang="en-US" dirty="0" smtClean="0"/>
              <a:t>SETB </a:t>
            </a:r>
            <a:r>
              <a:rPr lang="en-US" dirty="0"/>
              <a:t>TR0           ; Start </a:t>
            </a:r>
            <a:r>
              <a:rPr lang="en-US" dirty="0" smtClean="0"/>
              <a:t>Counter</a:t>
            </a:r>
          </a:p>
          <a:p>
            <a:r>
              <a:rPr lang="en-US" dirty="0" smtClean="0"/>
              <a:t>HERE</a:t>
            </a:r>
            <a:r>
              <a:rPr lang="en-US" dirty="0"/>
              <a:t>: JNB TF0, HERE; Wait for event </a:t>
            </a:r>
            <a:r>
              <a:rPr lang="en-US" dirty="0" smtClean="0"/>
              <a:t>count 				   overflow</a:t>
            </a:r>
          </a:p>
          <a:p>
            <a:r>
              <a:rPr lang="en-US" dirty="0" smtClean="0"/>
              <a:t>CLR </a:t>
            </a:r>
            <a:r>
              <a:rPr lang="en-US" dirty="0"/>
              <a:t>TF0            ; Clear overflow flag</a:t>
            </a:r>
            <a:endParaRPr lang="en-IN" dirty="0"/>
          </a:p>
        </p:txBody>
      </p:sp>
    </p:spTree>
    <p:extLst>
      <p:ext uri="{BB962C8B-B14F-4D97-AF65-F5344CB8AC3E}">
        <p14:creationId xmlns:p14="http://schemas.microsoft.com/office/powerpoint/2010/main" val="22448338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4.Mode 3 – Split Timer Mode</a:t>
            </a:r>
            <a:r>
              <a:rPr lang="en-IN" b="1" dirty="0"/>
              <a:t/>
            </a:r>
            <a:br>
              <a:rPr lang="en-IN" b="1" dirty="0"/>
            </a:br>
            <a:endParaRPr lang="en-IN" dirty="0"/>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pPr lvl="0"/>
            <a:r>
              <a:rPr lang="en-US" dirty="0"/>
              <a:t>In </a:t>
            </a:r>
            <a:r>
              <a:rPr lang="en-US" b="1" dirty="0"/>
              <a:t>Mode 3</a:t>
            </a:r>
            <a:r>
              <a:rPr lang="en-US" dirty="0"/>
              <a:t>, </a:t>
            </a:r>
            <a:r>
              <a:rPr lang="en-US" b="1" dirty="0"/>
              <a:t>Timer 0</a:t>
            </a:r>
            <a:r>
              <a:rPr lang="en-US" dirty="0"/>
              <a:t> is </a:t>
            </a:r>
            <a:r>
              <a:rPr lang="en-US" b="1" dirty="0"/>
              <a:t>split into two independent 8-bit timers</a:t>
            </a:r>
            <a:r>
              <a:rPr lang="en-US" dirty="0"/>
              <a:t>.</a:t>
            </a:r>
            <a:endParaRPr lang="en-IN" dirty="0"/>
          </a:p>
          <a:p>
            <a:pPr lvl="0"/>
            <a:r>
              <a:rPr lang="en-US" b="1" dirty="0"/>
              <a:t>Timer 1 loses functionality in this mode</a:t>
            </a:r>
            <a:r>
              <a:rPr lang="en-US" dirty="0"/>
              <a:t> and cannot be </a:t>
            </a:r>
            <a:r>
              <a:rPr lang="en-US" dirty="0" smtClean="0"/>
              <a:t>used.</a:t>
            </a:r>
            <a:endParaRPr lang="en-IN" dirty="0"/>
          </a:p>
          <a:p>
            <a:pPr lvl="0"/>
            <a:r>
              <a:rPr lang="en-US" dirty="0" smtClean="0"/>
              <a:t>How </a:t>
            </a:r>
            <a:r>
              <a:rPr lang="en-US" dirty="0"/>
              <a:t>Mode 3 Works:</a:t>
            </a:r>
            <a:endParaRPr lang="en-IN" b="1" dirty="0"/>
          </a:p>
          <a:p>
            <a:pPr lvl="0"/>
            <a:r>
              <a:rPr lang="en-US" b="1" dirty="0"/>
              <a:t>TL0 (Lower 8-bit timer)</a:t>
            </a:r>
            <a:r>
              <a:rPr lang="en-US" dirty="0"/>
              <a:t> operates as a full 8-bit timer with its own control.</a:t>
            </a:r>
            <a:endParaRPr lang="en-IN" dirty="0"/>
          </a:p>
          <a:p>
            <a:pPr lvl="0"/>
            <a:r>
              <a:rPr lang="en-US" b="1" dirty="0"/>
              <a:t>TH0 (Higher 8-bit timer)</a:t>
            </a:r>
            <a:r>
              <a:rPr lang="en-US" dirty="0"/>
              <a:t> acts as another independent 8-bit timer.</a:t>
            </a:r>
            <a:endParaRPr lang="en-IN" dirty="0"/>
          </a:p>
          <a:p>
            <a:pPr lvl="0"/>
            <a:r>
              <a:rPr lang="en-US" b="1" dirty="0"/>
              <a:t>Timer 1 remains inactive</a:t>
            </a:r>
            <a:r>
              <a:rPr lang="en-US" dirty="0"/>
              <a:t> and cannot be used.</a:t>
            </a:r>
            <a:endParaRPr lang="en-IN" dirty="0"/>
          </a:p>
          <a:p>
            <a:r>
              <a:rPr lang="en-US" dirty="0"/>
              <a:t>Setting Timer 0 in Mode 3:</a:t>
            </a:r>
            <a:endParaRPr lang="en-IN" b="1" dirty="0"/>
          </a:p>
          <a:p>
            <a:pPr lvl="0"/>
            <a:r>
              <a:rPr lang="en-US" b="1" dirty="0"/>
              <a:t>TL0 is controlled by TR0 and TF0</a:t>
            </a:r>
            <a:r>
              <a:rPr lang="en-US" dirty="0"/>
              <a:t>.</a:t>
            </a:r>
            <a:endParaRPr lang="en-IN" dirty="0"/>
          </a:p>
          <a:p>
            <a:pPr lvl="0"/>
            <a:r>
              <a:rPr lang="en-US" b="1" dirty="0"/>
              <a:t>TH0 is controlled by TR1 and TF1</a:t>
            </a:r>
            <a:r>
              <a:rPr lang="en-US" dirty="0"/>
              <a:t> (Yes, TR1 and TF1, even though it is Timer 0</a:t>
            </a:r>
            <a:r>
              <a:rPr lang="en-US" dirty="0" smtClean="0"/>
              <a:t>).</a:t>
            </a:r>
            <a:endParaRPr lang="en-IN" dirty="0"/>
          </a:p>
        </p:txBody>
      </p:sp>
    </p:spTree>
    <p:extLst>
      <p:ext uri="{BB962C8B-B14F-4D97-AF65-F5344CB8AC3E}">
        <p14:creationId xmlns:p14="http://schemas.microsoft.com/office/powerpoint/2010/main" val="24083446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r>
              <a:rPr lang="en-US" b="1" dirty="0"/>
              <a:t>Example Code for Split Timer Mode</a:t>
            </a:r>
            <a:endParaRPr lang="en-IN" b="1" dirty="0"/>
          </a:p>
          <a:p>
            <a:r>
              <a:rPr lang="en-US" dirty="0"/>
              <a:t>MOV TMOD, #04H  ;           Set Timer 0 to Mode 3</a:t>
            </a:r>
          </a:p>
          <a:p>
            <a:r>
              <a:rPr lang="en-US" dirty="0"/>
              <a:t>MOV TH0, #0FFH  ;             Load TH0 (upper 8-bit timer)</a:t>
            </a:r>
          </a:p>
          <a:p>
            <a:r>
              <a:rPr lang="en-US" dirty="0"/>
              <a:t>MOV TL0, #0A0H  ;             Load TL0 (lower 8-bit timer)</a:t>
            </a:r>
          </a:p>
          <a:p>
            <a:r>
              <a:rPr lang="en-US" dirty="0"/>
              <a:t>SETB TR0        ;                    Start lower timer</a:t>
            </a:r>
          </a:p>
          <a:p>
            <a:r>
              <a:rPr lang="en-US" dirty="0"/>
              <a:t>SETB TR1        ;                    Start upper timer</a:t>
            </a:r>
          </a:p>
          <a:p>
            <a:r>
              <a:rPr lang="en-US" dirty="0"/>
              <a:t>HERE: JNB TF0,                   HERE  ; Wait for TL0 overflow</a:t>
            </a:r>
          </a:p>
          <a:p>
            <a:r>
              <a:rPr lang="en-US" dirty="0"/>
              <a:t>CLR TF0         ;                     Clear overflow flag</a:t>
            </a:r>
            <a:endParaRPr lang="en-IN" dirty="0"/>
          </a:p>
          <a:p>
            <a:endParaRPr lang="en-IN" dirty="0"/>
          </a:p>
        </p:txBody>
      </p:sp>
    </p:spTree>
    <p:extLst>
      <p:ext uri="{BB962C8B-B14F-4D97-AF65-F5344CB8AC3E}">
        <p14:creationId xmlns:p14="http://schemas.microsoft.com/office/powerpoint/2010/main" val="36695680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Interrupt structure</a:t>
            </a:r>
            <a:br>
              <a:rPr lang="en-US" dirty="0" smtClean="0"/>
            </a:br>
            <a:endParaRPr lang="en-IN" dirty="0"/>
          </a:p>
        </p:txBody>
      </p:sp>
      <p:sp>
        <p:nvSpPr>
          <p:cNvPr id="3" name="Content Placeholder 2"/>
          <p:cNvSpPr>
            <a:spLocks noGrp="1"/>
          </p:cNvSpPr>
          <p:nvPr>
            <p:ph idx="1"/>
          </p:nvPr>
        </p:nvSpPr>
        <p:spPr/>
        <p:txBody>
          <a:bodyPr/>
          <a:lstStyle/>
          <a:p>
            <a:r>
              <a:rPr lang="en-US" sz="2000" dirty="0"/>
              <a:t>The </a:t>
            </a:r>
            <a:r>
              <a:rPr lang="en-US" sz="2000" b="1" dirty="0"/>
              <a:t>8051 microcontroller</a:t>
            </a:r>
            <a:r>
              <a:rPr lang="en-US" sz="2000" dirty="0"/>
              <a:t> has a built-in </a:t>
            </a:r>
            <a:r>
              <a:rPr lang="en-US" sz="2000" b="1" dirty="0"/>
              <a:t>interrupt structure</a:t>
            </a:r>
            <a:r>
              <a:rPr lang="en-US" sz="2000" dirty="0"/>
              <a:t> that allows it to respond quickly to external and internal events. The </a:t>
            </a:r>
            <a:r>
              <a:rPr lang="en-US" sz="2000" b="1" dirty="0"/>
              <a:t>8051 supports five interrupts</a:t>
            </a:r>
            <a:r>
              <a:rPr lang="en-US" sz="2000" dirty="0"/>
              <a:t>, including hardware and software </a:t>
            </a:r>
            <a:r>
              <a:rPr lang="en-US" sz="2000" dirty="0" smtClean="0"/>
              <a:t>interrupts.</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819400"/>
            <a:ext cx="57912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82401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8051  Interrupt priority</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1524000"/>
            <a:ext cx="59436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9817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TotalTime>
  <Words>950</Words>
  <Application>Microsoft Office PowerPoint</Application>
  <PresentationFormat>On-screen Show (4:3)</PresentationFormat>
  <Paragraphs>161</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8051 TIMERS AND COUNTERS   </vt:lpstr>
      <vt:lpstr>Introduction</vt:lpstr>
      <vt:lpstr>PowerPoint Presentation</vt:lpstr>
      <vt:lpstr>PowerPoint Presentation</vt:lpstr>
      <vt:lpstr>PowerPoint Presentation</vt:lpstr>
      <vt:lpstr>CPU Timing in 8051 Microcontroller</vt:lpstr>
      <vt:lpstr>PowerPoint Presentation</vt:lpstr>
      <vt:lpstr>PowerPoint Presentation</vt:lpstr>
      <vt:lpstr>TCON Register Format  (Bit Structure)</vt:lpstr>
      <vt:lpstr>PowerPoint Presentation</vt:lpstr>
      <vt:lpstr>TMOD</vt:lpstr>
      <vt:lpstr>Programming the 8051 Timers </vt:lpstr>
      <vt:lpstr>2. Using Timer in Mode 2 (8-bit auto-reload) </vt:lpstr>
      <vt:lpstr>3.Using Timer as an Event Counter</vt:lpstr>
      <vt:lpstr>4.Mode 3 – Split Timer Mode </vt:lpstr>
      <vt:lpstr>PowerPoint Presentation</vt:lpstr>
      <vt:lpstr>Interrupt structure </vt:lpstr>
      <vt:lpstr>8051  Interrupt priority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8051 Memory Organization &amp; Memory Interfacing </dc:title>
  <dc:creator>DDB</dc:creator>
  <cp:lastModifiedBy>hp</cp:lastModifiedBy>
  <cp:revision>64</cp:revision>
  <dcterms:created xsi:type="dcterms:W3CDTF">2006-08-16T00:00:00Z</dcterms:created>
  <dcterms:modified xsi:type="dcterms:W3CDTF">2026-03-23T03:33:15Z</dcterms:modified>
</cp:coreProperties>
</file>