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7" r:id="rId5"/>
    <p:sldId id="268" r:id="rId6"/>
    <p:sldId id="259" r:id="rId7"/>
    <p:sldId id="260" r:id="rId8"/>
    <p:sldId id="261" r:id="rId9"/>
    <p:sldId id="270" r:id="rId10"/>
    <p:sldId id="262" r:id="rId11"/>
    <p:sldId id="271" r:id="rId12"/>
    <p:sldId id="263" r:id="rId13"/>
    <p:sldId id="269" r:id="rId14"/>
    <p:sldId id="272"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204" y="-2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8051 Memory Organization &amp; Memory Interfacing</a:t>
            </a:r>
            <a:r>
              <a:rPr lang="en-US" dirty="0"/>
              <a:t/>
            </a:r>
            <a:br>
              <a:rPr lang="en-US" dirty="0"/>
            </a:br>
            <a:endParaRPr lang="en-IN"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9491867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Introduction </a:t>
            </a:r>
            <a:r>
              <a:rPr lang="en-IN" b="1" dirty="0"/>
              <a:t>to 8051 Memory</a:t>
            </a:r>
            <a:br>
              <a:rPr lang="en-IN" b="1" dirty="0"/>
            </a:br>
            <a:endParaRPr lang="en-IN" dirty="0"/>
          </a:p>
        </p:txBody>
      </p:sp>
      <p:sp>
        <p:nvSpPr>
          <p:cNvPr id="3" name="Content Placeholder 2"/>
          <p:cNvSpPr>
            <a:spLocks noGrp="1"/>
          </p:cNvSpPr>
          <p:nvPr>
            <p:ph idx="1"/>
          </p:nvPr>
        </p:nvSpPr>
        <p:spPr/>
        <p:txBody>
          <a:bodyPr/>
          <a:lstStyle/>
          <a:p>
            <a:r>
              <a:rPr lang="en-US" dirty="0"/>
              <a:t>The 8051 microcontroller has a well-defined memory architecture.</a:t>
            </a:r>
          </a:p>
          <a:p>
            <a:r>
              <a:rPr lang="en-US" dirty="0"/>
              <a:t>Memory is divided into </a:t>
            </a:r>
            <a:r>
              <a:rPr lang="en-US" b="1" dirty="0"/>
              <a:t>Program Memory (ROM)</a:t>
            </a:r>
            <a:r>
              <a:rPr lang="en-US" dirty="0"/>
              <a:t> and </a:t>
            </a:r>
            <a:r>
              <a:rPr lang="en-US" b="1" dirty="0"/>
              <a:t>Data Memory (RAM)</a:t>
            </a:r>
            <a:r>
              <a:rPr lang="en-US" dirty="0"/>
              <a:t>.</a:t>
            </a:r>
          </a:p>
          <a:p>
            <a:r>
              <a:rPr lang="en-US" dirty="0"/>
              <a:t>Supports </a:t>
            </a:r>
            <a:r>
              <a:rPr lang="en-US" b="1" dirty="0"/>
              <a:t>internal and external memory expansion</a:t>
            </a:r>
            <a:r>
              <a:rPr lang="en-US" dirty="0"/>
              <a:t>.</a:t>
            </a:r>
          </a:p>
          <a:p>
            <a:endParaRPr lang="en-IN" dirty="0"/>
          </a:p>
        </p:txBody>
      </p:sp>
    </p:spTree>
    <p:extLst>
      <p:ext uri="{BB962C8B-B14F-4D97-AF65-F5344CB8AC3E}">
        <p14:creationId xmlns:p14="http://schemas.microsoft.com/office/powerpoint/2010/main" val="24718020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Memory Organization in 8051</a:t>
            </a:r>
            <a:br>
              <a:rPr lang="en-IN" b="1" dirty="0"/>
            </a:br>
            <a:endParaRPr lang="en-IN" dirty="0"/>
          </a:p>
        </p:txBody>
      </p:sp>
      <p:sp>
        <p:nvSpPr>
          <p:cNvPr id="3" name="Content Placeholder 2"/>
          <p:cNvSpPr>
            <a:spLocks noGrp="1"/>
          </p:cNvSpPr>
          <p:nvPr>
            <p:ph idx="1"/>
          </p:nvPr>
        </p:nvSpPr>
        <p:spPr/>
        <p:txBody>
          <a:bodyPr>
            <a:normAutofit fontScale="85000" lnSpcReduction="20000"/>
          </a:bodyPr>
          <a:lstStyle/>
          <a:p>
            <a:r>
              <a:rPr lang="en-IN" b="1" dirty="0"/>
              <a:t>Program Memory (ROM)</a:t>
            </a:r>
            <a:endParaRPr lang="en-IN" dirty="0"/>
          </a:p>
          <a:p>
            <a:pPr lvl="1"/>
            <a:r>
              <a:rPr lang="en-IN" dirty="0"/>
              <a:t>Internal ROM: 4KB (in standard 8051)</a:t>
            </a:r>
          </a:p>
          <a:p>
            <a:pPr lvl="1"/>
            <a:r>
              <a:rPr lang="en-IN" dirty="0"/>
              <a:t>External ROM: Up to 64KB (if needed)</a:t>
            </a:r>
          </a:p>
          <a:p>
            <a:pPr lvl="1"/>
            <a:r>
              <a:rPr lang="en-IN" dirty="0"/>
              <a:t>Accessed using </a:t>
            </a:r>
            <a:r>
              <a:rPr lang="en-IN" b="1" dirty="0"/>
              <a:t>PSEN (Program Store Enable)</a:t>
            </a:r>
            <a:endParaRPr lang="en-IN" dirty="0"/>
          </a:p>
          <a:p>
            <a:r>
              <a:rPr lang="en-IN" b="1" dirty="0"/>
              <a:t>Data Memory (RAM)</a:t>
            </a:r>
            <a:endParaRPr lang="en-IN" dirty="0"/>
          </a:p>
          <a:p>
            <a:pPr lvl="1"/>
            <a:r>
              <a:rPr lang="en-IN" dirty="0"/>
              <a:t>Internal RAM: 128 bytes</a:t>
            </a:r>
          </a:p>
          <a:p>
            <a:pPr lvl="1"/>
            <a:r>
              <a:rPr lang="en-IN" dirty="0"/>
              <a:t>External RAM: Up to 64KB (accessed using MOVX instruction)</a:t>
            </a:r>
          </a:p>
          <a:p>
            <a:pPr lvl="1"/>
            <a:r>
              <a:rPr lang="en-IN" dirty="0"/>
              <a:t>Divided into:</a:t>
            </a:r>
          </a:p>
          <a:p>
            <a:pPr lvl="2"/>
            <a:r>
              <a:rPr lang="en-IN" b="1" dirty="0"/>
              <a:t>Register Banks (0-31 bytes)</a:t>
            </a:r>
            <a:endParaRPr lang="en-IN" dirty="0"/>
          </a:p>
          <a:p>
            <a:pPr lvl="2"/>
            <a:r>
              <a:rPr lang="en-IN" b="1" dirty="0"/>
              <a:t>Bit-Addressable RAM (32 bytes, 20H-2FH)</a:t>
            </a:r>
            <a:endParaRPr lang="en-IN" dirty="0"/>
          </a:p>
          <a:p>
            <a:pPr lvl="2"/>
            <a:r>
              <a:rPr lang="en-IN" b="1" dirty="0"/>
              <a:t>General-Purpose RAM (30H-7FH)</a:t>
            </a:r>
            <a:endParaRPr lang="en-IN" dirty="0"/>
          </a:p>
        </p:txBody>
      </p:sp>
    </p:spTree>
    <p:extLst>
      <p:ext uri="{BB962C8B-B14F-4D97-AF65-F5344CB8AC3E}">
        <p14:creationId xmlns:p14="http://schemas.microsoft.com/office/powerpoint/2010/main" val="4827876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Program Memory (ROM</a:t>
            </a:r>
            <a:r>
              <a:rPr lang="en-IN" b="1" dirty="0" smtClean="0"/>
              <a:t>) Organization</a:t>
            </a:r>
            <a:r>
              <a:rPr lang="en-IN" dirty="0"/>
              <a:t/>
            </a:r>
            <a:br>
              <a:rPr lang="en-IN" dirty="0"/>
            </a:br>
            <a:endParaRPr lang="en-IN" dirty="0"/>
          </a:p>
        </p:txBody>
      </p:sp>
      <p:sp>
        <p:nvSpPr>
          <p:cNvPr id="3" name="Content Placeholder 2"/>
          <p:cNvSpPr>
            <a:spLocks noGrp="1"/>
          </p:cNvSpPr>
          <p:nvPr>
            <p:ph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0" y="1147763"/>
            <a:ext cx="6667500" cy="456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2797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Data Memory (RAM)</a:t>
            </a:r>
            <a:r>
              <a:rPr lang="en-IN" dirty="0"/>
              <a:t/>
            </a:r>
            <a:br>
              <a:rPr lang="en-IN" dirty="0"/>
            </a:br>
            <a:endParaRPr lang="en-IN"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19255" y="1600200"/>
            <a:ext cx="650549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6752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Special Function Registers (SFRs)</a:t>
            </a:r>
            <a:br>
              <a:rPr lang="en-IN" b="1" dirty="0"/>
            </a:br>
            <a:endParaRPr lang="en-IN" dirty="0"/>
          </a:p>
        </p:txBody>
      </p:sp>
      <p:sp>
        <p:nvSpPr>
          <p:cNvPr id="3" name="Content Placeholder 2"/>
          <p:cNvSpPr>
            <a:spLocks noGrp="1"/>
          </p:cNvSpPr>
          <p:nvPr>
            <p:ph idx="1"/>
          </p:nvPr>
        </p:nvSpPr>
        <p:spPr/>
        <p:txBody>
          <a:bodyPr/>
          <a:lstStyle/>
          <a:p>
            <a:r>
              <a:rPr lang="en-IN" dirty="0"/>
              <a:t>Located in </a:t>
            </a:r>
            <a:r>
              <a:rPr lang="en-IN" b="1" dirty="0"/>
              <a:t>upper 128 bytes</a:t>
            </a:r>
            <a:r>
              <a:rPr lang="en-IN" dirty="0"/>
              <a:t> (80H-FFH).</a:t>
            </a:r>
          </a:p>
          <a:p>
            <a:r>
              <a:rPr lang="en-IN" dirty="0"/>
              <a:t>Used to control </a:t>
            </a:r>
            <a:r>
              <a:rPr lang="en-IN" b="1" dirty="0"/>
              <a:t>Timers, Serial Communication, Ports, Interrupts, etc.</a:t>
            </a:r>
            <a:endParaRPr lang="en-IN" dirty="0"/>
          </a:p>
          <a:p>
            <a:r>
              <a:rPr lang="en-IN" dirty="0"/>
              <a:t>Examples:</a:t>
            </a:r>
          </a:p>
          <a:p>
            <a:pPr lvl="1"/>
            <a:r>
              <a:rPr lang="en-IN" b="1" dirty="0"/>
              <a:t>P0-P3</a:t>
            </a:r>
            <a:r>
              <a:rPr lang="en-IN" dirty="0"/>
              <a:t> (I/O Ports)</a:t>
            </a:r>
          </a:p>
          <a:p>
            <a:pPr lvl="1"/>
            <a:r>
              <a:rPr lang="en-IN" b="1" dirty="0"/>
              <a:t>TCON</a:t>
            </a:r>
            <a:r>
              <a:rPr lang="en-IN" dirty="0"/>
              <a:t> (Timer Control)</a:t>
            </a:r>
          </a:p>
          <a:p>
            <a:pPr lvl="1"/>
            <a:r>
              <a:rPr lang="en-IN" b="1" dirty="0"/>
              <a:t>SCON</a:t>
            </a:r>
            <a:r>
              <a:rPr lang="en-IN" dirty="0"/>
              <a:t> (Serial Control)</a:t>
            </a:r>
          </a:p>
          <a:p>
            <a:pPr lvl="1"/>
            <a:r>
              <a:rPr lang="en-IN" b="1" dirty="0"/>
              <a:t>IE</a:t>
            </a:r>
            <a:r>
              <a:rPr lang="en-IN" dirty="0"/>
              <a:t> (Interrupt Enable)</a:t>
            </a:r>
          </a:p>
          <a:p>
            <a:endParaRPr lang="en-IN" dirty="0"/>
          </a:p>
        </p:txBody>
      </p:sp>
    </p:spTree>
    <p:extLst>
      <p:ext uri="{BB962C8B-B14F-4D97-AF65-F5344CB8AC3E}">
        <p14:creationId xmlns:p14="http://schemas.microsoft.com/office/powerpoint/2010/main" val="24303764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Memory Interfacing in 8051</a:t>
            </a:r>
            <a:br>
              <a:rPr lang="en-IN" b="1" dirty="0"/>
            </a:br>
            <a:endParaRPr lang="en-IN" dirty="0"/>
          </a:p>
        </p:txBody>
      </p:sp>
      <p:sp>
        <p:nvSpPr>
          <p:cNvPr id="3" name="Content Placeholder 2"/>
          <p:cNvSpPr>
            <a:spLocks noGrp="1"/>
          </p:cNvSpPr>
          <p:nvPr>
            <p:ph idx="1"/>
          </p:nvPr>
        </p:nvSpPr>
        <p:spPr/>
        <p:txBody>
          <a:bodyPr/>
          <a:lstStyle/>
          <a:p>
            <a:r>
              <a:rPr lang="en-US" dirty="0"/>
              <a:t>External memory is interfaced using </a:t>
            </a:r>
            <a:r>
              <a:rPr lang="en-US" b="1" dirty="0"/>
              <a:t>Address, Data, and Control signals</a:t>
            </a:r>
            <a:r>
              <a:rPr lang="en-US" dirty="0"/>
              <a:t>.</a:t>
            </a:r>
          </a:p>
          <a:p>
            <a:r>
              <a:rPr lang="en-US" dirty="0"/>
              <a:t>Two types:</a:t>
            </a:r>
          </a:p>
          <a:p>
            <a:pPr lvl="1"/>
            <a:r>
              <a:rPr lang="en-US" b="1" dirty="0"/>
              <a:t>External Program Memory (ROM)</a:t>
            </a:r>
            <a:r>
              <a:rPr lang="en-US" dirty="0"/>
              <a:t>: Accessed using </a:t>
            </a:r>
            <a:r>
              <a:rPr lang="en-US" b="1" dirty="0"/>
              <a:t>PSEN</a:t>
            </a:r>
            <a:r>
              <a:rPr lang="en-US" dirty="0"/>
              <a:t>.</a:t>
            </a:r>
          </a:p>
          <a:p>
            <a:pPr lvl="1"/>
            <a:r>
              <a:rPr lang="en-US" b="1" dirty="0"/>
              <a:t>External Data Memory (RAM)</a:t>
            </a:r>
            <a:r>
              <a:rPr lang="en-US" dirty="0"/>
              <a:t>: Accessed using </a:t>
            </a:r>
            <a:r>
              <a:rPr lang="en-US" b="1" dirty="0"/>
              <a:t>RD &amp; WR</a:t>
            </a:r>
            <a:r>
              <a:rPr lang="en-US" dirty="0"/>
              <a:t>.</a:t>
            </a:r>
          </a:p>
          <a:p>
            <a:endParaRPr lang="en-IN" dirty="0"/>
          </a:p>
        </p:txBody>
      </p:sp>
    </p:spTree>
    <p:extLst>
      <p:ext uri="{BB962C8B-B14F-4D97-AF65-F5344CB8AC3E}">
        <p14:creationId xmlns:p14="http://schemas.microsoft.com/office/powerpoint/2010/main" val="24607058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Interfacing External ROM</a:t>
            </a:r>
            <a:br>
              <a:rPr lang="en-IN" b="1" dirty="0"/>
            </a:br>
            <a:endParaRPr lang="en-IN" dirty="0"/>
          </a:p>
        </p:txBody>
      </p:sp>
      <p:sp>
        <p:nvSpPr>
          <p:cNvPr id="3" name="Content Placeholder 2"/>
          <p:cNvSpPr>
            <a:spLocks noGrp="1"/>
          </p:cNvSpPr>
          <p:nvPr>
            <p:ph idx="1"/>
          </p:nvPr>
        </p:nvSpPr>
        <p:spPr/>
        <p:txBody>
          <a:bodyPr/>
          <a:lstStyle/>
          <a:p>
            <a:r>
              <a:rPr lang="en-US" dirty="0"/>
              <a:t>Used when program size &gt; 4KB.</a:t>
            </a:r>
          </a:p>
          <a:p>
            <a:r>
              <a:rPr lang="en-US" dirty="0"/>
              <a:t>Address Bus (A0-A15) → ROM</a:t>
            </a:r>
          </a:p>
          <a:p>
            <a:r>
              <a:rPr lang="en-US" dirty="0"/>
              <a:t>Data Bus (D0-D7) → ROM</a:t>
            </a:r>
          </a:p>
          <a:p>
            <a:r>
              <a:rPr lang="en-US" b="1" dirty="0"/>
              <a:t>PSEN</a:t>
            </a:r>
            <a:r>
              <a:rPr lang="en-US" dirty="0"/>
              <a:t> → ROM Output Enable (OE)</a:t>
            </a:r>
          </a:p>
          <a:p>
            <a:r>
              <a:rPr lang="en-US" b="1" dirty="0"/>
              <a:t>ALE</a:t>
            </a:r>
            <a:r>
              <a:rPr lang="en-US" dirty="0"/>
              <a:t> → Latch Lower Address</a:t>
            </a:r>
          </a:p>
          <a:p>
            <a:r>
              <a:rPr lang="en-US" b="1" dirty="0"/>
              <a:t>EA (External Access)</a:t>
            </a:r>
            <a:r>
              <a:rPr lang="en-US" dirty="0"/>
              <a:t>: Set to 0 for full external ROM access.</a:t>
            </a:r>
          </a:p>
          <a:p>
            <a:endParaRPr lang="en-IN" dirty="0"/>
          </a:p>
        </p:txBody>
      </p:sp>
    </p:spTree>
    <p:extLst>
      <p:ext uri="{BB962C8B-B14F-4D97-AF65-F5344CB8AC3E}">
        <p14:creationId xmlns:p14="http://schemas.microsoft.com/office/powerpoint/2010/main" val="1253216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01000" cy="1020762"/>
          </a:xfrm>
        </p:spPr>
        <p:txBody>
          <a:bodyPr>
            <a:normAutofit fontScale="90000"/>
          </a:bodyPr>
          <a:lstStyle/>
          <a:p>
            <a:r>
              <a:rPr lang="en-IN" dirty="0"/>
              <a:t/>
            </a:r>
            <a:br>
              <a:rPr lang="en-IN" dirty="0"/>
            </a:br>
            <a:r>
              <a:rPr lang="en-IN" dirty="0"/>
              <a:t> </a:t>
            </a:r>
            <a:r>
              <a:rPr lang="en-IN" b="1" dirty="0"/>
              <a:t>EXTERNAL ROM (PROGRAM MEMORY) INTERFACING </a:t>
            </a:r>
            <a:endParaRPr lang="en-IN"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8637" y="2248694"/>
            <a:ext cx="8086725" cy="322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18831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Interfacing External RAM</a:t>
            </a:r>
            <a:br>
              <a:rPr lang="en-IN" b="1" dirty="0"/>
            </a:br>
            <a:endParaRPr lang="en-IN" dirty="0"/>
          </a:p>
        </p:txBody>
      </p:sp>
      <p:sp>
        <p:nvSpPr>
          <p:cNvPr id="3" name="Content Placeholder 2"/>
          <p:cNvSpPr>
            <a:spLocks noGrp="1"/>
          </p:cNvSpPr>
          <p:nvPr>
            <p:ph idx="1"/>
          </p:nvPr>
        </p:nvSpPr>
        <p:spPr/>
        <p:txBody>
          <a:bodyPr/>
          <a:lstStyle/>
          <a:p>
            <a:r>
              <a:rPr lang="en-US" dirty="0"/>
              <a:t>Used when internal RAM (128 bytes) is insufficient.</a:t>
            </a:r>
          </a:p>
          <a:p>
            <a:r>
              <a:rPr lang="en-US" dirty="0"/>
              <a:t>Address Bus (A0-A15) → RAM</a:t>
            </a:r>
          </a:p>
          <a:p>
            <a:r>
              <a:rPr lang="en-US" dirty="0"/>
              <a:t>Data Bus (D0-D7) → RAM</a:t>
            </a:r>
          </a:p>
          <a:p>
            <a:r>
              <a:rPr lang="en-US" b="1" dirty="0"/>
              <a:t>RD &amp; WR Signals</a:t>
            </a:r>
            <a:r>
              <a:rPr lang="en-US" dirty="0"/>
              <a:t> → RAM Read/Write Control</a:t>
            </a:r>
          </a:p>
          <a:p>
            <a:r>
              <a:rPr lang="en-US" b="1" dirty="0"/>
              <a:t>ALE</a:t>
            </a:r>
            <a:r>
              <a:rPr lang="en-US" dirty="0"/>
              <a:t> → Latch Lower Address</a:t>
            </a:r>
          </a:p>
          <a:p>
            <a:r>
              <a:rPr lang="en-US" b="1" dirty="0"/>
              <a:t>74LS138 Decoder</a:t>
            </a:r>
            <a:r>
              <a:rPr lang="en-US" dirty="0"/>
              <a:t> used for </a:t>
            </a:r>
            <a:r>
              <a:rPr lang="en-US" b="1" dirty="0"/>
              <a:t>Chip Selection</a:t>
            </a:r>
            <a:r>
              <a:rPr lang="en-US" dirty="0"/>
              <a:t>.</a:t>
            </a:r>
          </a:p>
          <a:p>
            <a:endParaRPr lang="en-IN" dirty="0"/>
          </a:p>
        </p:txBody>
      </p:sp>
    </p:spTree>
    <p:extLst>
      <p:ext uri="{BB962C8B-B14F-4D97-AF65-F5344CB8AC3E}">
        <p14:creationId xmlns:p14="http://schemas.microsoft.com/office/powerpoint/2010/main" val="26202397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
            </a:r>
            <a:br>
              <a:rPr lang="en-IN" dirty="0"/>
            </a:br>
            <a:r>
              <a:rPr lang="en-IN" dirty="0"/>
              <a:t> </a:t>
            </a:r>
            <a:r>
              <a:rPr lang="en-IN" b="1" dirty="0"/>
              <a:t>EXTERNAL RAM (DATA MEMORY) INTERFACING </a:t>
            </a:r>
            <a:endParaRPr lang="en-IN"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23987" y="2381250"/>
            <a:ext cx="6296025" cy="310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1590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Schematic for External Memory Interfacing</a:t>
            </a:r>
            <a:br>
              <a:rPr lang="en-US" b="1" dirty="0"/>
            </a:br>
            <a:endParaRPr lang="en-IN" dirty="0"/>
          </a:p>
        </p:txBody>
      </p:sp>
      <p:sp>
        <p:nvSpPr>
          <p:cNvPr id="3" name="Content Placeholder 2"/>
          <p:cNvSpPr>
            <a:spLocks noGrp="1"/>
          </p:cNvSpPr>
          <p:nvPr>
            <p:ph idx="1"/>
          </p:nvPr>
        </p:nvSpPr>
        <p:spPr/>
        <p:txBody>
          <a:bodyPr/>
          <a:lstStyle/>
          <a:p>
            <a:r>
              <a:rPr lang="en-US" dirty="0"/>
              <a:t>Shows connection of </a:t>
            </a:r>
            <a:r>
              <a:rPr lang="en-US" b="1" dirty="0"/>
              <a:t>8051 with 8KB ROM &amp; 8KB RAM</a:t>
            </a:r>
            <a:r>
              <a:rPr lang="en-US" dirty="0"/>
              <a:t>.</a:t>
            </a:r>
          </a:p>
          <a:p>
            <a:r>
              <a:rPr lang="en-US" b="1" dirty="0"/>
              <a:t>74LS373 (Latch) used for Address Bus Latching</a:t>
            </a:r>
            <a:r>
              <a:rPr lang="en-US" dirty="0"/>
              <a:t>.</a:t>
            </a:r>
          </a:p>
          <a:p>
            <a:r>
              <a:rPr lang="en-US" b="1" dirty="0"/>
              <a:t>74LS138 (Decoder) used for Memory Selection</a:t>
            </a:r>
            <a:r>
              <a:rPr lang="en-US" dirty="0"/>
              <a:t>.</a:t>
            </a:r>
          </a:p>
          <a:p>
            <a:endParaRPr lang="en-IN" dirty="0"/>
          </a:p>
        </p:txBody>
      </p:sp>
    </p:spTree>
    <p:extLst>
      <p:ext uri="{BB962C8B-B14F-4D97-AF65-F5344CB8AC3E}">
        <p14:creationId xmlns:p14="http://schemas.microsoft.com/office/powerpoint/2010/main" val="2142922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Steps For Interfacing-external </a:t>
            </a:r>
            <a:r>
              <a:rPr lang="en-US" b="1" dirty="0"/>
              <a:t>RAM/ROM interface.</a:t>
            </a:r>
            <a:r>
              <a:rPr lang="en-IN" dirty="0"/>
              <a:t/>
            </a:r>
            <a:br>
              <a:rPr lang="en-IN" dirty="0"/>
            </a:br>
            <a:endParaRPr lang="en-IN" dirty="0"/>
          </a:p>
        </p:txBody>
      </p:sp>
      <p:sp>
        <p:nvSpPr>
          <p:cNvPr id="3" name="Content Placeholder 2"/>
          <p:cNvSpPr>
            <a:spLocks noGrp="1"/>
          </p:cNvSpPr>
          <p:nvPr>
            <p:ph idx="1"/>
          </p:nvPr>
        </p:nvSpPr>
        <p:spPr/>
        <p:txBody>
          <a:bodyPr>
            <a:normAutofit fontScale="47500" lnSpcReduction="20000"/>
          </a:bodyPr>
          <a:lstStyle/>
          <a:p>
            <a:r>
              <a:rPr lang="en-US" dirty="0"/>
              <a:t>To interface both program ROM and data RAM to 8051, </a:t>
            </a:r>
            <a:endParaRPr lang="en-IN" dirty="0"/>
          </a:p>
          <a:p>
            <a:r>
              <a:rPr lang="en-US" dirty="0"/>
              <a:t>Let’s say we want to interface 16KB data RAM, 16KB program ROM, </a:t>
            </a:r>
            <a:r>
              <a:rPr lang="en-US" dirty="0" smtClean="0"/>
              <a:t>then </a:t>
            </a:r>
            <a:r>
              <a:rPr lang="en-US" dirty="0"/>
              <a:t>we’ll have to follow the following steps:</a:t>
            </a:r>
            <a:endParaRPr lang="en-IN" dirty="0"/>
          </a:p>
          <a:p>
            <a:r>
              <a:rPr lang="en-US" b="1" dirty="0"/>
              <a:t>Step 1</a:t>
            </a:r>
            <a:r>
              <a:rPr lang="en-US" dirty="0"/>
              <a:t>: Calculate the number of address lines required to access </a:t>
            </a:r>
            <a:r>
              <a:rPr lang="en-US" b="1" dirty="0"/>
              <a:t>16KB o</a:t>
            </a:r>
            <a:r>
              <a:rPr lang="en-US" dirty="0"/>
              <a:t>f data, that is 2^14 = 16KB. Here, we require 14 address lines A0 – A13.</a:t>
            </a:r>
            <a:endParaRPr lang="en-IN" dirty="0"/>
          </a:p>
          <a:p>
            <a:r>
              <a:rPr lang="en-US" b="1" dirty="0"/>
              <a:t>Step 2</a:t>
            </a:r>
            <a:r>
              <a:rPr lang="en-US" dirty="0"/>
              <a:t>: Decide the location of RAM and ROM, here we are going to interface program ROM from 0000H and data RAM from 8000H.</a:t>
            </a:r>
            <a:endParaRPr lang="en-IN" dirty="0"/>
          </a:p>
          <a:p>
            <a:r>
              <a:rPr lang="en-US" b="1" dirty="0"/>
              <a:t>Step 3</a:t>
            </a:r>
            <a:r>
              <a:rPr lang="en-US" dirty="0"/>
              <a:t>: Select the decoder circuit, here we’re going to select 74LS138 decoder.</a:t>
            </a:r>
            <a:endParaRPr lang="en-IN" dirty="0"/>
          </a:p>
          <a:p>
            <a:r>
              <a:rPr lang="en-US" b="1" dirty="0" smtClean="0"/>
              <a:t>Step 4</a:t>
            </a:r>
            <a:r>
              <a:rPr lang="en-US" dirty="0" smtClean="0"/>
              <a:t>: We do not need a decoder circuit for program ROM, but we have to connect the 74LS138 decoder to data ROM and data RAM.</a:t>
            </a:r>
            <a:endParaRPr lang="en-IN" dirty="0" smtClean="0"/>
          </a:p>
          <a:p>
            <a:r>
              <a:rPr lang="en-US" b="1" dirty="0" smtClean="0"/>
              <a:t>Step </a:t>
            </a:r>
            <a:r>
              <a:rPr lang="en-US" b="1" dirty="0"/>
              <a:t>5</a:t>
            </a:r>
            <a:r>
              <a:rPr lang="en-US" dirty="0"/>
              <a:t>: Connect G1 to VCC, G2A, and G2B to ground.</a:t>
            </a:r>
            <a:endParaRPr lang="en-IN" dirty="0"/>
          </a:p>
          <a:p>
            <a:r>
              <a:rPr lang="en-US" b="1" dirty="0"/>
              <a:t>Step 6</a:t>
            </a:r>
            <a:r>
              <a:rPr lang="en-US" dirty="0"/>
              <a:t>: Connect input A and B to P2.6 and P2.7 respectively, and the input C to ground.</a:t>
            </a:r>
            <a:endParaRPr lang="en-IN" dirty="0"/>
          </a:p>
          <a:p>
            <a:r>
              <a:rPr lang="en-US" b="1" dirty="0"/>
              <a:t>Step 7</a:t>
            </a:r>
            <a:r>
              <a:rPr lang="en-US" dirty="0"/>
              <a:t>: We connect external program and data ROM, for that we can use an AND gate with its input being signal from RD (to access external data space) and PSEN (to access external program space) and output to OE of external ROM.</a:t>
            </a:r>
            <a:endParaRPr lang="en-IN" dirty="0"/>
          </a:p>
          <a:p>
            <a:r>
              <a:rPr lang="en-US" b="1" dirty="0"/>
              <a:t>Step 8</a:t>
            </a:r>
            <a:r>
              <a:rPr lang="en-US" dirty="0"/>
              <a:t>: To interface the external RAM, we connect both RD and WR to WE and OE respectively of external RAM.</a:t>
            </a:r>
            <a:endParaRPr lang="en-IN" dirty="0"/>
          </a:p>
          <a:p>
            <a:endParaRPr lang="en-IN" dirty="0"/>
          </a:p>
        </p:txBody>
      </p:sp>
    </p:spTree>
    <p:extLst>
      <p:ext uri="{BB962C8B-B14F-4D97-AF65-F5344CB8AC3E}">
        <p14:creationId xmlns:p14="http://schemas.microsoft.com/office/powerpoint/2010/main" val="1691996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Code Example (Assembly)</a:t>
            </a:r>
            <a:br>
              <a:rPr lang="en-IN" b="1" dirty="0"/>
            </a:br>
            <a:endParaRPr lang="en-IN" dirty="0"/>
          </a:p>
        </p:txBody>
      </p:sp>
      <p:sp>
        <p:nvSpPr>
          <p:cNvPr id="3" name="Content Placeholder 2"/>
          <p:cNvSpPr>
            <a:spLocks noGrp="1"/>
          </p:cNvSpPr>
          <p:nvPr>
            <p:ph idx="1"/>
          </p:nvPr>
        </p:nvSpPr>
        <p:spPr/>
        <p:txBody>
          <a:bodyPr>
            <a:normAutofit fontScale="92500"/>
          </a:bodyPr>
          <a:lstStyle/>
          <a:p>
            <a:r>
              <a:rPr lang="en-IN" dirty="0"/>
              <a:t>ORG </a:t>
            </a:r>
            <a:r>
              <a:rPr lang="en-IN" dirty="0" smtClean="0"/>
              <a:t>0000H</a:t>
            </a:r>
          </a:p>
          <a:p>
            <a:r>
              <a:rPr lang="en-IN" dirty="0" smtClean="0"/>
              <a:t>MOV </a:t>
            </a:r>
            <a:r>
              <a:rPr lang="en-IN" dirty="0"/>
              <a:t>DPTR, #2000H  ; Load external RAM </a:t>
            </a:r>
            <a:r>
              <a:rPr lang="en-IN" dirty="0" smtClean="0"/>
              <a:t>address</a:t>
            </a:r>
          </a:p>
          <a:p>
            <a:r>
              <a:rPr lang="en-IN" dirty="0" smtClean="0"/>
              <a:t>MOV </a:t>
            </a:r>
            <a:r>
              <a:rPr lang="en-IN" dirty="0"/>
              <a:t>A, #55H       ; Data to </a:t>
            </a:r>
            <a:r>
              <a:rPr lang="en-IN" dirty="0" smtClean="0"/>
              <a:t>write</a:t>
            </a:r>
          </a:p>
          <a:p>
            <a:r>
              <a:rPr lang="en-IN" dirty="0" smtClean="0"/>
              <a:t>MOVX </a:t>
            </a:r>
            <a:r>
              <a:rPr lang="en-IN" dirty="0"/>
              <a:t>@DPTR, A     ; Write to external </a:t>
            </a:r>
            <a:r>
              <a:rPr lang="en-IN" dirty="0" smtClean="0"/>
              <a:t>RAM</a:t>
            </a:r>
          </a:p>
          <a:p>
            <a:r>
              <a:rPr lang="en-IN" dirty="0" smtClean="0"/>
              <a:t>MOV </a:t>
            </a:r>
            <a:r>
              <a:rPr lang="en-IN" dirty="0"/>
              <a:t>DPTR, #2000H  ; Load same </a:t>
            </a:r>
            <a:r>
              <a:rPr lang="en-IN" dirty="0" smtClean="0"/>
              <a:t>address</a:t>
            </a:r>
          </a:p>
          <a:p>
            <a:r>
              <a:rPr lang="en-IN" dirty="0" smtClean="0"/>
              <a:t>MOVX </a:t>
            </a:r>
            <a:r>
              <a:rPr lang="en-IN" dirty="0"/>
              <a:t>A, @DPTR     ; Read from external </a:t>
            </a:r>
            <a:r>
              <a:rPr lang="en-IN" dirty="0" smtClean="0"/>
              <a:t>RAM</a:t>
            </a:r>
          </a:p>
          <a:p>
            <a:r>
              <a:rPr lang="en-IN" dirty="0" smtClean="0"/>
              <a:t>SJMP </a:t>
            </a:r>
            <a:r>
              <a:rPr lang="en-IN" dirty="0"/>
              <a:t>$            ; Infinite </a:t>
            </a:r>
            <a:r>
              <a:rPr lang="en-IN" dirty="0" smtClean="0"/>
              <a:t>loop</a:t>
            </a:r>
          </a:p>
          <a:p>
            <a:r>
              <a:rPr lang="en-IN" dirty="0" smtClean="0"/>
              <a:t>END</a:t>
            </a:r>
            <a:endParaRPr lang="en-IN" dirty="0"/>
          </a:p>
        </p:txBody>
      </p:sp>
    </p:spTree>
    <p:extLst>
      <p:ext uri="{BB962C8B-B14F-4D97-AF65-F5344CB8AC3E}">
        <p14:creationId xmlns:p14="http://schemas.microsoft.com/office/powerpoint/2010/main" val="38604903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472</Words>
  <Application>Microsoft Office PowerPoint</Application>
  <PresentationFormat>On-screen Show (4:3)</PresentationFormat>
  <Paragraphs>72</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8051 Memory Organization &amp; Memory Interfacing </vt:lpstr>
      <vt:lpstr>Introduction to 8051 Memory </vt:lpstr>
      <vt:lpstr>Memory Organization in 8051 </vt:lpstr>
      <vt:lpstr>Program Memory (ROM) Organization </vt:lpstr>
      <vt:lpstr>Data Memory (RAM) </vt:lpstr>
      <vt:lpstr>Special Function Registers (SFRs) </vt:lpstr>
      <vt:lpstr>Memory Interfacing in 8051 </vt:lpstr>
      <vt:lpstr>Interfacing External ROM </vt:lpstr>
      <vt:lpstr>  EXTERNAL ROM (PROGRAM MEMORY) INTERFACING </vt:lpstr>
      <vt:lpstr>Interfacing External RAM </vt:lpstr>
      <vt:lpstr>  EXTERNAL RAM (DATA MEMORY) INTERFACING </vt:lpstr>
      <vt:lpstr>Schematic for External Memory Interfacing </vt:lpstr>
      <vt:lpstr> Steps For Interfacing-external RAM/ROM interface. </vt:lpstr>
      <vt:lpstr>Code Example (Assembly)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8051 Memory Organization &amp; Memory Interfacing </dc:title>
  <dc:creator>DDB</dc:creator>
  <cp:lastModifiedBy>hp</cp:lastModifiedBy>
  <cp:revision>18</cp:revision>
  <dcterms:created xsi:type="dcterms:W3CDTF">2006-08-16T00:00:00Z</dcterms:created>
  <dcterms:modified xsi:type="dcterms:W3CDTF">2025-04-19T07:05:46Z</dcterms:modified>
</cp:coreProperties>
</file>